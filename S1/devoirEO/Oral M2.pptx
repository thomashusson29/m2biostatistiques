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7" r:id="rId4"/>
    <p:sldId id="258" r:id="rId5"/>
    <p:sldId id="270" r:id="rId6"/>
    <p:sldId id="271" r:id="rId7"/>
    <p:sldId id="269" r:id="rId8"/>
    <p:sldId id="274" r:id="rId9"/>
    <p:sldId id="276" r:id="rId10"/>
    <p:sldId id="272" r:id="rId11"/>
    <p:sldId id="273" r:id="rId12"/>
    <p:sldId id="261" r:id="rId13"/>
    <p:sldId id="277" r:id="rId14"/>
    <p:sldId id="278" r:id="rId15"/>
    <p:sldId id="281" r:id="rId16"/>
    <p:sldId id="259" r:id="rId17"/>
    <p:sldId id="279" r:id="rId18"/>
    <p:sldId id="280" r:id="rId19"/>
    <p:sldId id="282" r:id="rId20"/>
    <p:sldId id="283" r:id="rId21"/>
    <p:sldId id="264" r:id="rId22"/>
    <p:sldId id="265" r:id="rId2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0DA1DE"/>
    <a:srgbClr val="FFE5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44"/>
    <p:restoredTop sz="74643"/>
  </p:normalViewPr>
  <p:slideViewPr>
    <p:cSldViewPr snapToGrid="0">
      <p:cViewPr>
        <p:scale>
          <a:sx n="80" d="100"/>
          <a:sy n="80" d="100"/>
        </p:scale>
        <p:origin x="504" y="488"/>
      </p:cViewPr>
      <p:guideLst/>
    </p:cSldViewPr>
  </p:slideViewPr>
  <p:notesTextViewPr>
    <p:cViewPr>
      <p:scale>
        <a:sx n="1" d="1"/>
        <a:sy n="1" d="1"/>
      </p:scale>
      <p:origin x="0" y="-14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E604E3-DF42-8547-96FB-C4BC2E8D68D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F39E13-3F44-F148-9119-78B75B2BAF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839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509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54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A3733-A936-0A00-E502-76441C18A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B7FFB6-48B6-04B2-52AD-CFEBEEA20F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2DD73C-3364-32F7-3BEC-8608D510D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GB" dirty="0"/>
              <a:t>Selective dopamine D2/D3 receptor agonist</a:t>
            </a:r>
          </a:p>
          <a:p>
            <a:pPr marL="285750" indent="-285750">
              <a:buFontTx/>
              <a:buChar char="-"/>
            </a:pPr>
            <a:r>
              <a:rPr lang="en-GB" dirty="0"/>
              <a:t>Distinct from standard antidepressants which target serotonin</a:t>
            </a:r>
          </a:p>
          <a:p>
            <a:pPr marL="285750" indent="-285750">
              <a:buFontTx/>
              <a:buChar char="-"/>
            </a:pPr>
            <a:r>
              <a:rPr lang="en-GB" dirty="0"/>
              <a:t>Interest in depression : </a:t>
            </a:r>
          </a:p>
          <a:p>
            <a:r>
              <a:rPr lang="en-GB" dirty="0"/>
              <a:t>  - Pramipexole is a </a:t>
            </a:r>
            <a:r>
              <a:rPr lang="en-GB" b="1" dirty="0"/>
              <a:t>selective dopamine D2/D3 receptor agonist</a:t>
            </a:r>
            <a:endParaRPr lang="en-GB" dirty="0"/>
          </a:p>
          <a:p>
            <a:r>
              <a:rPr lang="en-GB" dirty="0"/>
              <a:t>  - It is pharmacologically distinct from standard antidepressants, which mainly</a:t>
            </a:r>
          </a:p>
          <a:p>
            <a:r>
              <a:rPr lang="en-GB" dirty="0"/>
              <a:t>    target </a:t>
            </a:r>
            <a:r>
              <a:rPr lang="en-GB" b="1" dirty="0"/>
              <a:t>serotonin</a:t>
            </a:r>
            <a:endParaRPr lang="en-GB" dirty="0"/>
          </a:p>
          <a:p>
            <a:r>
              <a:rPr lang="en-GB" dirty="0"/>
              <a:t>  - It is of interest in depression because it may target </a:t>
            </a:r>
            <a:r>
              <a:rPr lang="en-GB" b="1" dirty="0"/>
              <a:t>anhedonia</a:t>
            </a:r>
            <a:r>
              <a:rPr lang="en-GB" dirty="0"/>
              <a:t>, </a:t>
            </a:r>
            <a:r>
              <a:rPr lang="en-GB" b="1" dirty="0"/>
              <a:t>low</a:t>
            </a:r>
            <a:endParaRPr lang="en-GB" dirty="0"/>
          </a:p>
          <a:p>
            <a:r>
              <a:rPr lang="en-GB" dirty="0"/>
              <a:t>    </a:t>
            </a:r>
            <a:r>
              <a:rPr lang="en-GB" b="1" dirty="0"/>
              <a:t>motivation</a:t>
            </a:r>
            <a:r>
              <a:rPr lang="en-GB" dirty="0"/>
              <a:t>, and </a:t>
            </a:r>
            <a:r>
              <a:rPr lang="en-GB" b="1" dirty="0"/>
              <a:t>reward-processing deficits</a:t>
            </a:r>
            <a:endParaRPr lang="en-GB" dirty="0"/>
          </a:p>
          <a:p>
            <a:r>
              <a:rPr lang="en-GB" dirty="0"/>
              <a:t>  - The biological rationale is that dopaminergic signalling is involved in</a:t>
            </a:r>
          </a:p>
          <a:p>
            <a:r>
              <a:rPr lang="en-GB" dirty="0"/>
              <a:t>    </a:t>
            </a:r>
            <a:r>
              <a:rPr lang="en-GB" b="1" dirty="0"/>
              <a:t>reward learning</a:t>
            </a:r>
            <a:r>
              <a:rPr lang="en-GB" dirty="0"/>
              <a:t> and motivational drive</a:t>
            </a:r>
          </a:p>
          <a:p>
            <a:r>
              <a:rPr lang="en-GB" dirty="0"/>
              <a:t>  - In this study, pramipexole was used as an </a:t>
            </a:r>
            <a:r>
              <a:rPr lang="en-GB" b="1" dirty="0"/>
              <a:t>add-on treatment</a:t>
            </a:r>
            <a:r>
              <a:rPr lang="en-GB" dirty="0"/>
              <a:t> to ongoing</a:t>
            </a:r>
          </a:p>
          <a:p>
            <a:r>
              <a:rPr lang="en-GB" dirty="0"/>
              <a:t>    antidepressant therapy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  Et pour la slide </a:t>
            </a:r>
            <a:r>
              <a:rPr lang="en-GB" dirty="0" err="1"/>
              <a:t>suivante</a:t>
            </a:r>
            <a:r>
              <a:rPr lang="en-GB" dirty="0"/>
              <a:t> :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  </a:t>
            </a:r>
            <a:r>
              <a:rPr lang="en-GB" b="1" dirty="0"/>
              <a:t>Evidence Base for Pramipexole in Depression</a:t>
            </a:r>
            <a:endParaRPr lang="en-GB" dirty="0"/>
          </a:p>
          <a:p>
            <a:br>
              <a:rPr lang="en-GB" dirty="0"/>
            </a:br>
            <a:endParaRPr lang="en-GB" dirty="0"/>
          </a:p>
          <a:p>
            <a:r>
              <a:rPr lang="en-GB" dirty="0"/>
              <a:t>  - Before this trial, evidence was </a:t>
            </a:r>
            <a:r>
              <a:rPr lang="en-GB" b="1" dirty="0"/>
              <a:t>promising but limited</a:t>
            </a:r>
            <a:endParaRPr lang="en-GB" dirty="0"/>
          </a:p>
          <a:p>
            <a:r>
              <a:rPr lang="en-GB" dirty="0"/>
              <a:t>  - The article cites a </a:t>
            </a:r>
            <a:r>
              <a:rPr lang="en-GB" b="1" dirty="0"/>
              <a:t>systematic review</a:t>
            </a:r>
            <a:r>
              <a:rPr lang="en-GB" dirty="0"/>
              <a:t> reporting:</a:t>
            </a:r>
          </a:p>
          <a:p>
            <a:r>
              <a:rPr lang="en-GB" dirty="0"/>
              <a:t>  - </a:t>
            </a:r>
            <a:r>
              <a:rPr lang="en-GB" b="1" dirty="0"/>
              <a:t>5 completed randomized controlled trials</a:t>
            </a:r>
            <a:endParaRPr lang="en-GB" dirty="0"/>
          </a:p>
          <a:p>
            <a:r>
              <a:rPr lang="en-GB" dirty="0"/>
              <a:t>  - </a:t>
            </a:r>
            <a:r>
              <a:rPr lang="en-GB" b="1" dirty="0"/>
              <a:t>3 open-label studies</a:t>
            </a:r>
            <a:endParaRPr lang="en-GB" dirty="0"/>
          </a:p>
          <a:p>
            <a:r>
              <a:rPr lang="en-GB" dirty="0"/>
              <a:t>  - </a:t>
            </a:r>
            <a:r>
              <a:rPr lang="en-GB" b="1" dirty="0"/>
              <a:t>5 observational studies</a:t>
            </a:r>
            <a:endParaRPr lang="en-GB" dirty="0"/>
          </a:p>
          <a:p>
            <a:r>
              <a:rPr lang="en-GB" dirty="0"/>
              <a:t>  - One prior RCT in </a:t>
            </a:r>
            <a:r>
              <a:rPr lang="en-GB" b="1" dirty="0"/>
              <a:t>65 unipolar TRD patients</a:t>
            </a:r>
            <a:r>
              <a:rPr lang="en-GB" dirty="0"/>
              <a:t> found benefit on a continuous</a:t>
            </a:r>
          </a:p>
          <a:p>
            <a:r>
              <a:rPr lang="en-GB" dirty="0"/>
              <a:t>    depression outcome, but not clearly on response</a:t>
            </a:r>
          </a:p>
          <a:p>
            <a:r>
              <a:rPr lang="en-GB" dirty="0"/>
              <a:t>  - Another RCT suggested that </a:t>
            </a:r>
            <a:r>
              <a:rPr lang="en-GB" b="1" dirty="0"/>
              <a:t>1 mg/day</a:t>
            </a:r>
            <a:r>
              <a:rPr lang="en-GB" dirty="0"/>
              <a:t> could be effective, while </a:t>
            </a:r>
            <a:r>
              <a:rPr lang="en-GB" b="1" dirty="0"/>
              <a:t>5 mg/day</a:t>
            </a:r>
            <a:r>
              <a:rPr lang="en-GB" dirty="0"/>
              <a:t> had</a:t>
            </a:r>
          </a:p>
          <a:p>
            <a:r>
              <a:rPr lang="en-GB" dirty="0"/>
              <a:t>    poor tolerability</a:t>
            </a:r>
          </a:p>
          <a:p>
            <a:r>
              <a:rPr lang="en-GB" dirty="0"/>
              <a:t>  - A very small trial in unipolar depression did </a:t>
            </a:r>
            <a:r>
              <a:rPr lang="en-GB" b="1" dirty="0"/>
              <a:t>not</a:t>
            </a:r>
            <a:r>
              <a:rPr lang="en-GB" dirty="0"/>
              <a:t> show a clear between-group</a:t>
            </a:r>
          </a:p>
          <a:p>
            <a:r>
              <a:rPr lang="en-GB" dirty="0"/>
              <a:t>    difference</a:t>
            </a:r>
          </a:p>
          <a:p>
            <a:r>
              <a:rPr lang="en-GB" dirty="0"/>
              <a:t>  - Case series suggested possible benefit at </a:t>
            </a:r>
            <a:r>
              <a:rPr lang="en-GB" b="1" dirty="0"/>
              <a:t>higher doses</a:t>
            </a:r>
            <a:r>
              <a:rPr lang="en-GB" dirty="0"/>
              <a:t>, around </a:t>
            </a:r>
            <a:r>
              <a:rPr lang="en-GB" b="1" dirty="0"/>
              <a:t>2.5 mg/day</a:t>
            </a:r>
            <a:endParaRPr lang="en-GB" dirty="0"/>
          </a:p>
          <a:p>
            <a:r>
              <a:rPr lang="en-GB" dirty="0"/>
              <a:t>  - Therefore, before the current paper, the signal was </a:t>
            </a:r>
            <a:r>
              <a:rPr lang="en-GB" b="1" dirty="0"/>
              <a:t>interesting but not</a:t>
            </a:r>
            <a:endParaRPr lang="en-GB" dirty="0"/>
          </a:p>
          <a:p>
            <a:r>
              <a:rPr lang="en-GB" dirty="0"/>
              <a:t>    </a:t>
            </a:r>
            <a:r>
              <a:rPr lang="en-GB" b="1" dirty="0"/>
              <a:t>definitive</a:t>
            </a:r>
            <a:endParaRPr lang="en-GB" dirty="0"/>
          </a:p>
          <a:p>
            <a:r>
              <a:rPr lang="en-GB" dirty="0"/>
              <a:t>  - The current Lancet Psychiatry trial provides the </a:t>
            </a:r>
            <a:r>
              <a:rPr lang="en-GB" b="1" dirty="0"/>
              <a:t>strongest randomized</a:t>
            </a:r>
            <a:endParaRPr lang="en-GB" dirty="0"/>
          </a:p>
          <a:p>
            <a:r>
              <a:rPr lang="en-GB" dirty="0"/>
              <a:t>    </a:t>
            </a:r>
            <a:r>
              <a:rPr lang="en-GB" b="1" dirty="0"/>
              <a:t>evidence so far</a:t>
            </a:r>
            <a:r>
              <a:rPr lang="en-GB" dirty="0"/>
              <a:t> in treatment-resistant unipolar depression</a:t>
            </a:r>
            <a:endParaRPr lang="fr-FR" sz="1400" dirty="0">
              <a:latin typeface="Aptos Light" panose="020B00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7E154-F4AC-B73E-B8D9-47960B596A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174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97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Randomisation</a:t>
            </a:r>
            <a:r>
              <a:rPr lang="en-US" dirty="0"/>
              <a:t> was performed centrally through an online system,</a:t>
            </a:r>
          </a:p>
          <a:p>
            <a:r>
              <a:rPr lang="en-US" dirty="0"/>
              <a:t>  with a 1:1 allocation ratio.</a:t>
            </a:r>
          </a:p>
          <a:p>
            <a:endParaRPr lang="en-US" dirty="0"/>
          </a:p>
          <a:p>
            <a:r>
              <a:rPr lang="en-US" dirty="0"/>
              <a:t>  The authors used a </a:t>
            </a:r>
            <a:r>
              <a:rPr lang="en-US" dirty="0" err="1"/>
              <a:t>minimisation</a:t>
            </a:r>
            <a:r>
              <a:rPr lang="en-US" dirty="0"/>
              <a:t> procedure</a:t>
            </a:r>
          </a:p>
          <a:p>
            <a:r>
              <a:rPr lang="en-US" dirty="0"/>
              <a:t>  to balance the two groups on four important prognostic factors:</a:t>
            </a:r>
          </a:p>
          <a:p>
            <a:r>
              <a:rPr lang="en-US" dirty="0"/>
              <a:t>  study site, age, sex, and baseline depression severity.</a:t>
            </a:r>
          </a:p>
          <a:p>
            <a:endParaRPr lang="en-US" dirty="0"/>
          </a:p>
          <a:p>
            <a:r>
              <a:rPr lang="en-US" dirty="0"/>
              <a:t>  The first ten participants were </a:t>
            </a:r>
            <a:r>
              <a:rPr lang="en-US" dirty="0" err="1"/>
              <a:t>randomised</a:t>
            </a:r>
            <a:r>
              <a:rPr lang="en-US" dirty="0"/>
              <a:t> without </a:t>
            </a:r>
            <a:r>
              <a:rPr lang="en-US" dirty="0" err="1"/>
              <a:t>minimisation</a:t>
            </a:r>
            <a:endParaRPr lang="en-US" dirty="0"/>
          </a:p>
          <a:p>
            <a:r>
              <a:rPr lang="en-US" dirty="0"/>
              <a:t>  in order to avoid predictability at the beginning of the trial.</a:t>
            </a:r>
          </a:p>
          <a:p>
            <a:endParaRPr lang="en-US" dirty="0"/>
          </a:p>
          <a:p>
            <a:r>
              <a:rPr lang="en-US" dirty="0"/>
              <a:t>  After that, the algorithm </a:t>
            </a:r>
            <a:r>
              <a:rPr lang="en-US" dirty="0" err="1"/>
              <a:t>favoured</a:t>
            </a:r>
            <a:r>
              <a:rPr lang="en-US" dirty="0"/>
              <a:t>, with an 80% probability,</a:t>
            </a:r>
          </a:p>
          <a:p>
            <a:r>
              <a:rPr lang="en-US" dirty="0"/>
              <a:t>  the treatment allocation that best reduced imbalance between the groups,</a:t>
            </a:r>
          </a:p>
          <a:p>
            <a:r>
              <a:rPr lang="en-US" dirty="0"/>
              <a:t>  while still preserving a degree of randomness.</a:t>
            </a:r>
          </a:p>
          <a:p>
            <a:endParaRPr lang="en-US" dirty="0"/>
          </a:p>
          <a:p>
            <a:r>
              <a:rPr lang="en-US" dirty="0"/>
              <a:t>  This strategy improved baseline comparability between the groups</a:t>
            </a:r>
          </a:p>
          <a:p>
            <a:r>
              <a:rPr lang="en-US" dirty="0"/>
              <a:t>  and strengthened internal validity,</a:t>
            </a:r>
          </a:p>
          <a:p>
            <a:r>
              <a:rPr lang="en-US" dirty="0"/>
              <a:t>  while also maintaining good allocation concealment.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113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1133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0395E-A1EF-5765-6ED5-1637F27AA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03DFE7-06EB-084F-474B-09C62E8838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4D3333-A705-F579-44A7-3FF0053F1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652B5-3B87-29CF-56FC-F68B138CFA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867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AA67C-9E31-DD70-6FB6-B8703BD36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A671B9-D535-C924-16AF-853579B79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94B72F-5E35-30AF-7BF8-119250B3A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7566E-3C78-5EA9-FBE2-778A0411BD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665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0A7ED-94FF-2A82-399A-59D70B246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97321-E5B5-1AFF-B5CA-E1165F447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1B592C-0DED-CB1D-7414-7ACBF370F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F8866-F2F5-60A5-719D-2064090C7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3164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586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2427E-813B-F6A1-A6A9-F4C09975A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A756DF-4E9E-6E34-5BB5-695F08C467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84F790-05DF-399B-F972-BF55A978D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EFA374-89B1-FC6A-C03B-17A83800BE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1556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3D3FF-EC6F-66C0-F9D2-A7119ED96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0FA10A-AF24-9884-8534-4860C33CDF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827B96-7FA1-9B62-0635-5480BD52E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5357B-C98E-5AB7-E02B-A10595F7C8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3084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FA718-495D-600E-E47A-CE3611C0B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B7C1F-5DF7-7543-BD8F-1E420BC4B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A8A44-D9ED-4389-58CB-4081A0BBE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31C36-827E-F20A-F0D7-E17D2ADF49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862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B450F-B023-F6A5-DA33-B917D4E48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81BE32-3206-0032-873A-C22CB4FE7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6C40DD-EFC2-88E0-B333-769DB3EA9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0C4C8-DFAD-5E49-A84B-131524FCE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482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 unblinding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likely: many participants correctly guessed treatment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allocation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Primary outcome was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self-rated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so more vulnerable to expectancy bias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Tolerability issue: more discontinuations due to adverse effects with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pramipexole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Recognisable adverse-effect profile may have contributed to unmasking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Moderate sample size: limited power for rare harms and subgroup analyses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External validity remains limited: UK sites, selected TRD population,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several psychiatric exclusions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No ethnicity data collected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- Long-term interpretation is weaker because follow-up at 48 weeks was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incomplete for many participants and antidepressant changes were allowed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after week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9E13-3F44-F148-9119-78B75B2BAF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74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749DFF-A74C-5B56-4B15-067F26381F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E8EBAAD-025E-71A3-041B-33217793B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0E4A73-9C00-BA1B-60EA-A8B839310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8EFB41-A6ED-CD3D-D44C-42C7D890B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89E0FC-C4C5-B685-A826-CA5ED776F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0538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1FB289-0C12-6DE0-E893-C8C99B9F5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E053A0-F86B-231A-6B90-34B749F01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5B664D-7B01-208B-E3A0-6AA8150F1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241A4B-15F8-E836-B99E-A4D9CC5EF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253AD2-6CE3-1723-CB0D-7DCF3957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8406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F6204D-45C5-FD0D-259C-8770897A0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BA6053B-06E7-41B2-152E-C6B227965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86AB4E-F682-9009-18D2-74B8A9789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B0A0AA-2A29-D5AE-3B11-BD4808325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91FC9B-F508-37BF-5C67-F5DA565C4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15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78274D-D2CB-83B6-8A6A-12F3FD631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E0E98A-CB9E-6EE2-753A-660D506CC4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32430AC-6C1E-8984-B4BB-532485F3C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E619A91-6A7C-BB36-794B-2C3DCC16C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D903753-A56B-D3DB-8202-3CE815947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92EA1E5-D9D4-7BBF-7CE8-63FD88A00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6168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39A580-08F8-D4F2-E300-0051071FC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D734F5-779F-C8DB-30C8-00F1C2DAB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F120E01-0C4C-25FB-7834-D7CBC92AA2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BCD605D-EFB2-EAA1-F59D-C4D197ED0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12C7590-6BAC-F720-7BC8-892BF1FC74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0BF611E-0D11-2BDC-F249-D82621D4E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2408A3A-ACD4-B997-B520-499713265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C049A67-8CDE-6C07-83AA-AEB2AA82C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5839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17429D-FB0E-4C0B-E7BC-85ECE236F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9E73E5C-7F07-3CB3-B916-DEAAF239D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9748154-DB26-EE96-49B0-771D2883D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DEFE7F8-C955-3504-EAAE-9B5ACB826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5070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C727E83-5913-B709-A847-64E99D663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6ECB920-8560-74FA-FFF9-EB483C0C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1AF1F5-93F7-970A-27E8-2CE91ED83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7566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3118A4-23EA-0DD9-D860-B5B3D0A97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F0A66D-3EE3-314D-3B7C-890B66DD8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A9F5633-44D7-8913-FB21-8393C6CF8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A0356DC-808B-23CB-4668-8C37E69B1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AD51528-5732-0F79-B95F-67133442F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FC19FBE-A5EB-D452-A9EE-C3BFCD435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7019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B56A93-82A0-CC9E-021C-07B698D29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C36D769-B65B-19E0-AB8D-FDECA04FC1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633A74-3421-C377-DEC2-75814F6DA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767C2BA-D53D-8F2A-97A8-016514758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5343EE1-82D7-F748-6AB5-4145F2BD1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CE5453-49A8-F412-8740-9F327922F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6604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F63F4F-9266-E487-78FE-152D93999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B8AC651-8952-EA7E-5B65-C657B42DE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196649-CA95-DE8F-3D08-209A9D487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E3ADFD-5A00-80CF-6697-CD1141ED2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6CA72F-41F1-EDEF-8689-ED33AA7C2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4446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9BEF598-ED60-A3B4-1FE4-9DB12ED632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97EDA8F-8F33-61DE-5513-69CD3D1079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BA1AA5F-5DA2-4C62-7F8D-AD79D6656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3A0E-D46B-254D-A06D-4D8372B2C9EC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6CC156-44E6-ED6F-D59C-802CC276E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81B4D6-848A-555F-7911-3464C00BE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6436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2A78B23-FBEF-FB11-3A5E-653EBEE05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3EE5C22-B432-A09A-0DDC-1BBBFD34F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A3C716F-9619-8F91-9318-66AB6E0AEF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2E3A0E-D46B-254D-A06D-4D8372B2C9EC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FCA1CF-F260-B26B-C9D0-AE647B28D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28AFA1-8AEA-3F92-1E87-C856F22B53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3A2EC8-FC3D-0847-B0C1-7D4E83FC4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3922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FC4E1B8C-19BF-B9E8-6B3B-DADACB2EF8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3600" dirty="0"/>
              <a:t>Oral Presentation</a:t>
            </a:r>
          </a:p>
          <a:p>
            <a:r>
              <a:rPr lang="en-GB" sz="3600" noProof="0" dirty="0"/>
              <a:t>Thomas HUSSON</a:t>
            </a:r>
          </a:p>
          <a:p>
            <a:r>
              <a:rPr lang="en-GB" sz="3600" noProof="0" dirty="0"/>
              <a:t>March 11, 2026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AA3580-0194-A3DA-EA4A-2CD9F761B008}"/>
              </a:ext>
            </a:extLst>
          </p:cNvPr>
          <p:cNvSpPr/>
          <p:nvPr/>
        </p:nvSpPr>
        <p:spPr>
          <a:xfrm>
            <a:off x="0" y="5712178"/>
            <a:ext cx="12192000" cy="114582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AEDD19-9EA7-7D7B-C85A-A7D0E364D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74" y="212272"/>
            <a:ext cx="10620070" cy="304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801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C3B4FF-552F-D4B8-9A76-E75079D1E8DF}"/>
              </a:ext>
            </a:extLst>
          </p:cNvPr>
          <p:cNvSpPr/>
          <p:nvPr/>
        </p:nvSpPr>
        <p:spPr>
          <a:xfrm>
            <a:off x="651973" y="1765550"/>
            <a:ext cx="10888052" cy="1153717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i="1" noProof="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98D66C-1689-7CE8-EB4D-A2CD81DF6C9E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Introduction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425F9CD-1F4F-7BD9-9292-D7FD3B8F28B0}"/>
              </a:ext>
            </a:extLst>
          </p:cNvPr>
          <p:cNvSpPr txBox="1"/>
          <p:nvPr/>
        </p:nvSpPr>
        <p:spPr>
          <a:xfrm>
            <a:off x="932480" y="1891559"/>
            <a:ext cx="103270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noProof="0" dirty="0">
                <a:latin typeface="Aptos Light" panose="020B0004020202020204" pitchFamily="34" charset="0"/>
              </a:rPr>
              <a:t>Lancet (IF 88,5), </a:t>
            </a:r>
            <a:r>
              <a:rPr lang="en-GB" sz="2000" noProof="0" dirty="0">
                <a:effectLst/>
                <a:latin typeface="Aptos Light" panose="020B0004020202020204" pitchFamily="34" charset="0"/>
              </a:rPr>
              <a:t>August 23, 2025</a:t>
            </a:r>
          </a:p>
          <a:p>
            <a:r>
              <a:rPr lang="en-GB" sz="2000" noProof="0" dirty="0">
                <a:latin typeface="Aptos Light" panose="020B0004020202020204" pitchFamily="34" charset="0"/>
              </a:rPr>
              <a:t>Phase 3 multicentre double-blind randomised control trial (Level of evidence B), double-blind</a:t>
            </a:r>
          </a:p>
          <a:p>
            <a:r>
              <a:rPr lang="en-GB" sz="2000" noProof="0" dirty="0">
                <a:effectLst/>
                <a:latin typeface="Aptos Light" panose="020B0004020202020204" pitchFamily="34" charset="0"/>
              </a:rPr>
              <a:t>9 </a:t>
            </a:r>
            <a:r>
              <a:rPr lang="en-GB" sz="2000" noProof="0" dirty="0" err="1">
                <a:effectLst/>
                <a:latin typeface="Aptos Light" panose="020B0004020202020204" pitchFamily="34" charset="0"/>
              </a:rPr>
              <a:t>centers</a:t>
            </a:r>
            <a:r>
              <a:rPr lang="en-GB" sz="2000" noProof="0" dirty="0">
                <a:effectLst/>
                <a:latin typeface="Aptos Light" panose="020B0004020202020204" pitchFamily="34" charset="0"/>
              </a:rPr>
              <a:t> in </a:t>
            </a:r>
            <a:r>
              <a:rPr lang="en-GB" sz="2000" noProof="0" dirty="0" err="1">
                <a:effectLst/>
                <a:latin typeface="Aptos Light" panose="020B0004020202020204" pitchFamily="34" charset="0"/>
              </a:rPr>
              <a:t>england</a:t>
            </a:r>
            <a:endParaRPr lang="en-GB" sz="2000" noProof="0" dirty="0">
              <a:effectLst/>
              <a:latin typeface="Aptos Light" panose="020B0004020202020204" pitchFamily="34" charset="0"/>
            </a:endParaRPr>
          </a:p>
          <a:p>
            <a:endParaRPr lang="en-GB" sz="2000" noProof="0" dirty="0">
              <a:latin typeface="Aptos Light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8F37FD-2B00-B020-5BF4-987FA05C455B}"/>
              </a:ext>
            </a:extLst>
          </p:cNvPr>
          <p:cNvSpPr/>
          <p:nvPr/>
        </p:nvSpPr>
        <p:spPr>
          <a:xfrm>
            <a:off x="651973" y="3232654"/>
            <a:ext cx="10888052" cy="1938992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i="1" noProof="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F281EBE-5208-D59C-B1AD-E2425F32F3A3}"/>
              </a:ext>
            </a:extLst>
          </p:cNvPr>
          <p:cNvSpPr txBox="1"/>
          <p:nvPr/>
        </p:nvSpPr>
        <p:spPr>
          <a:xfrm>
            <a:off x="932480" y="3267965"/>
            <a:ext cx="106075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noProof="0" dirty="0">
                <a:latin typeface="Aptos" panose="020B0004020202020204" pitchFamily="34" charset="0"/>
              </a:rPr>
              <a:t>Population</a:t>
            </a:r>
            <a:r>
              <a:rPr lang="en-GB" sz="2000" noProof="0" dirty="0">
                <a:latin typeface="Aptos Light" panose="020B0004020202020204" pitchFamily="34" charset="0"/>
              </a:rPr>
              <a:t> : Adults with treatment-resistant unipolar depression</a:t>
            </a:r>
          </a:p>
          <a:p>
            <a:endParaRPr lang="en-GB" sz="2000" noProof="0" dirty="0">
              <a:latin typeface="Aptos Light" panose="020B0004020202020204" pitchFamily="34" charset="0"/>
            </a:endParaRPr>
          </a:p>
          <a:p>
            <a:r>
              <a:rPr lang="en-GB" sz="2000" b="1" noProof="0" dirty="0">
                <a:latin typeface="Aptos" panose="020B0004020202020204" pitchFamily="34" charset="0"/>
              </a:rPr>
              <a:t>Investigational drug</a:t>
            </a:r>
            <a:r>
              <a:rPr lang="en-GB" sz="2000" b="1" noProof="0" dirty="0">
                <a:latin typeface="Aptos Light" panose="020B0004020202020204" pitchFamily="34" charset="0"/>
              </a:rPr>
              <a:t> </a:t>
            </a:r>
            <a:r>
              <a:rPr lang="en-GB" sz="2000" noProof="0" dirty="0">
                <a:latin typeface="Aptos Light" panose="020B0004020202020204" pitchFamily="34" charset="0"/>
              </a:rPr>
              <a:t>: </a:t>
            </a:r>
            <a:r>
              <a:rPr lang="en-GB" sz="2000" noProof="0" dirty="0"/>
              <a:t>Pramipexole added to ongoing antidepressant treatment</a:t>
            </a:r>
          </a:p>
          <a:p>
            <a:endParaRPr lang="en-GB" sz="2000" noProof="0" dirty="0">
              <a:latin typeface="Aptos Light" panose="020B0004020202020204" pitchFamily="34" charset="0"/>
            </a:endParaRPr>
          </a:p>
          <a:p>
            <a:r>
              <a:rPr lang="en-GB" sz="2000" b="1" noProof="0" dirty="0">
                <a:latin typeface="Aptos" panose="020B0004020202020204" pitchFamily="34" charset="0"/>
              </a:rPr>
              <a:t>Aim of the study </a:t>
            </a:r>
            <a:r>
              <a:rPr lang="en-GB" sz="2000" noProof="0" dirty="0">
                <a:latin typeface="Aptos" panose="020B0004020202020204" pitchFamily="34" charset="0"/>
              </a:rPr>
              <a:t>: </a:t>
            </a:r>
            <a:r>
              <a:rPr lang="en-GB" sz="2000" noProof="0" dirty="0"/>
              <a:t>Test if pramipexole improves depressive symptoms better than placebo</a:t>
            </a:r>
            <a:endParaRPr lang="en-GB" sz="2000" noProof="0" dirty="0">
              <a:effectLst/>
              <a:latin typeface="Aptos" panose="020B0004020202020204" pitchFamily="34" charset="0"/>
            </a:endParaRPr>
          </a:p>
          <a:p>
            <a:endParaRPr lang="en-GB" sz="2000" noProof="0" dirty="0"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126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F696C-DC7C-23FE-CE6B-34216144A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664FC1-8DF3-2425-B75A-B65C87FE2D0C}"/>
              </a:ext>
            </a:extLst>
          </p:cNvPr>
          <p:cNvSpPr/>
          <p:nvPr/>
        </p:nvSpPr>
        <p:spPr>
          <a:xfrm>
            <a:off x="651973" y="1765550"/>
            <a:ext cx="10888052" cy="4485348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i="1" noProof="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556FA9-B367-0E53-815C-3C3A8E7A35A7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What is Pramipexole ?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BE134DB-B6CB-AF68-4377-2553B185BE9E}"/>
              </a:ext>
            </a:extLst>
          </p:cNvPr>
          <p:cNvSpPr txBox="1"/>
          <p:nvPr/>
        </p:nvSpPr>
        <p:spPr>
          <a:xfrm>
            <a:off x="932480" y="1891559"/>
            <a:ext cx="10327038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noProof="0" dirty="0"/>
              <a:t> </a:t>
            </a:r>
            <a:r>
              <a:rPr lang="en-GB" sz="2000" b="1" noProof="0" dirty="0"/>
              <a:t>What is Pramipexole ?</a:t>
            </a:r>
            <a:endParaRPr lang="en-GB" sz="2000" noProof="0" dirty="0"/>
          </a:p>
          <a:p>
            <a:endParaRPr lang="en-GB" sz="1400" noProof="0" dirty="0"/>
          </a:p>
          <a:p>
            <a:r>
              <a:rPr lang="en-GB" sz="2000" noProof="0" dirty="0"/>
              <a:t> - Selective </a:t>
            </a:r>
            <a:r>
              <a:rPr lang="en-GB" sz="2000" b="1" noProof="0" dirty="0"/>
              <a:t>dopamine D2/D3 agonist</a:t>
            </a:r>
            <a:endParaRPr lang="en-GB" sz="2000" noProof="0" dirty="0"/>
          </a:p>
          <a:p>
            <a:r>
              <a:rPr lang="en-GB" sz="2000" noProof="0" dirty="0"/>
              <a:t>  - Potentially targets </a:t>
            </a:r>
            <a:r>
              <a:rPr lang="en-GB" sz="2000" b="1" noProof="0" dirty="0"/>
              <a:t>anhedonia</a:t>
            </a:r>
            <a:r>
              <a:rPr lang="en-GB" sz="2000" noProof="0" dirty="0"/>
              <a:t> and </a:t>
            </a:r>
            <a:r>
              <a:rPr lang="en-GB" sz="2000" b="1" noProof="0" dirty="0"/>
              <a:t>motivation</a:t>
            </a:r>
            <a:endParaRPr lang="en-GB" sz="2000" noProof="0" dirty="0"/>
          </a:p>
          <a:p>
            <a:r>
              <a:rPr lang="en-GB" sz="2000" noProof="0" dirty="0"/>
              <a:t>  - Used here as </a:t>
            </a:r>
            <a:r>
              <a:rPr lang="en-GB" sz="2000" b="1" noProof="0" dirty="0"/>
              <a:t>augmentation</a:t>
            </a:r>
            <a:r>
              <a:rPr lang="en-GB" sz="2000" noProof="0" dirty="0"/>
              <a:t> of antidepressant treatment</a:t>
            </a:r>
          </a:p>
          <a:p>
            <a:r>
              <a:rPr lang="en-GB" sz="2000" noProof="0" dirty="0"/>
              <a:t> </a:t>
            </a:r>
            <a:endParaRPr lang="en-GB" sz="2000" b="1" noProof="0" dirty="0"/>
          </a:p>
          <a:p>
            <a:endParaRPr lang="en-GB" sz="2000" b="1" noProof="0" dirty="0"/>
          </a:p>
          <a:p>
            <a:r>
              <a:rPr lang="en-GB" sz="2000" noProof="0" dirty="0"/>
              <a:t>  </a:t>
            </a:r>
            <a:r>
              <a:rPr lang="en-GB" sz="2000" b="1" noProof="0" dirty="0"/>
              <a:t>Previous evidence</a:t>
            </a:r>
          </a:p>
          <a:p>
            <a:endParaRPr lang="en-GB" sz="1200" noProof="0" dirty="0"/>
          </a:p>
          <a:p>
            <a:r>
              <a:rPr lang="en-GB" sz="2000" noProof="0" dirty="0"/>
              <a:t>  - Promising but </a:t>
            </a:r>
            <a:r>
              <a:rPr lang="en-GB" sz="2000" b="1" noProof="0" dirty="0"/>
              <a:t>limited</a:t>
            </a:r>
            <a:endParaRPr lang="en-GB" sz="2000" noProof="0" dirty="0"/>
          </a:p>
          <a:p>
            <a:r>
              <a:rPr lang="en-GB" sz="2000" noProof="0" dirty="0"/>
              <a:t>  - Small RCTs and observational studies</a:t>
            </a:r>
          </a:p>
          <a:p>
            <a:r>
              <a:rPr lang="en-GB" sz="2000" noProof="0" dirty="0"/>
              <a:t>  - Mixed results, but overall signal in </a:t>
            </a:r>
            <a:r>
              <a:rPr lang="en-GB" sz="2000" noProof="0" dirty="0" err="1"/>
              <a:t>favor</a:t>
            </a:r>
            <a:r>
              <a:rPr lang="en-GB" sz="2000" noProof="0" dirty="0"/>
              <a:t> of efficacy</a:t>
            </a:r>
          </a:p>
          <a:p>
            <a:r>
              <a:rPr lang="en-GB" sz="2000" noProof="0" dirty="0"/>
              <a:t>  - Need for a larger placebo-controlled trial</a:t>
            </a:r>
          </a:p>
        </p:txBody>
      </p:sp>
    </p:spTree>
    <p:extLst>
      <p:ext uri="{BB962C8B-B14F-4D97-AF65-F5344CB8AC3E}">
        <p14:creationId xmlns:p14="http://schemas.microsoft.com/office/powerpoint/2010/main" val="1444747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A12B03F-0D05-BB4F-03B1-0B63D682B2A0}"/>
              </a:ext>
            </a:extLst>
          </p:cNvPr>
          <p:cNvSpPr/>
          <p:nvPr/>
        </p:nvSpPr>
        <p:spPr>
          <a:xfrm>
            <a:off x="8174294" y="827943"/>
            <a:ext cx="3879046" cy="424221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noProof="0" dirty="0">
                <a:solidFill>
                  <a:schemeClr val="tx1"/>
                </a:solidFill>
                <a:latin typeface="+mj-lt"/>
              </a:rPr>
              <a:t>Inclusion criteria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Adults ≥18 years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DSM-5 major depressive disorder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QIDS-SR16 &gt;10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Ongoing antidepressant treatment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Failure of ≥2 antidepressants in the current episode</a:t>
            </a:r>
          </a:p>
          <a:p>
            <a:endParaRPr lang="en-GB" noProof="0" dirty="0">
              <a:solidFill>
                <a:schemeClr val="tx1"/>
              </a:solidFill>
              <a:latin typeface="+mj-lt"/>
            </a:endParaRPr>
          </a:p>
          <a:p>
            <a:r>
              <a:rPr lang="en-GB" b="1" noProof="0" dirty="0">
                <a:solidFill>
                  <a:schemeClr val="tx1"/>
                </a:solidFill>
                <a:latin typeface="+mj-lt"/>
              </a:rPr>
              <a:t>  Exclusion criteria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Psychosis or bipolar disorder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Impulse control difficulties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Concomitant antipsychotic treatment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Contraindication / unstable medical illness</a:t>
            </a:r>
            <a:endParaRPr lang="en-GB" noProof="0" dirty="0">
              <a:solidFill>
                <a:schemeClr val="tx1"/>
              </a:solidFill>
              <a:latin typeface="Aptos Light" panose="020B00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ABBFC8-C857-7F21-AC4E-2A431F54A964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Study 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5EFEEB-0FE7-0A3A-B04A-938B5C4C95DB}"/>
              </a:ext>
            </a:extLst>
          </p:cNvPr>
          <p:cNvSpPr/>
          <p:nvPr/>
        </p:nvSpPr>
        <p:spPr>
          <a:xfrm>
            <a:off x="1844470" y="923646"/>
            <a:ext cx="4527029" cy="6025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Inclusion and assessing participants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7F6162-E91A-9DB0-B1C3-24FC88824E26}"/>
              </a:ext>
            </a:extLst>
          </p:cNvPr>
          <p:cNvSpPr/>
          <p:nvPr/>
        </p:nvSpPr>
        <p:spPr>
          <a:xfrm>
            <a:off x="3013023" y="1701481"/>
            <a:ext cx="2189925" cy="5211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noProof="0" dirty="0">
                <a:solidFill>
                  <a:sysClr val="windowText" lastClr="000000"/>
                </a:solidFill>
              </a:rPr>
              <a:t>2 weeks run-in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42CEA6-B852-73E3-D52E-AABE86B4FB9E}"/>
              </a:ext>
            </a:extLst>
          </p:cNvPr>
          <p:cNvSpPr/>
          <p:nvPr/>
        </p:nvSpPr>
        <p:spPr>
          <a:xfrm>
            <a:off x="3013023" y="2438761"/>
            <a:ext cx="2189925" cy="5211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Randomization 1:1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4456AC-0F62-1F3A-ECB5-6E1C10AC98FA}"/>
              </a:ext>
            </a:extLst>
          </p:cNvPr>
          <p:cNvSpPr/>
          <p:nvPr/>
        </p:nvSpPr>
        <p:spPr>
          <a:xfrm>
            <a:off x="167956" y="3342805"/>
            <a:ext cx="2063646" cy="96261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Placebo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F29EB1-171D-1CEE-4DD5-514CFF7E0DA3}"/>
              </a:ext>
            </a:extLst>
          </p:cNvPr>
          <p:cNvSpPr/>
          <p:nvPr/>
        </p:nvSpPr>
        <p:spPr>
          <a:xfrm>
            <a:off x="5656798" y="3342805"/>
            <a:ext cx="2063646" cy="9626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Pramipexole  </a:t>
            </a:r>
          </a:p>
          <a:p>
            <a:r>
              <a:rPr lang="en-GB" noProof="0" dirty="0">
                <a:solidFill>
                  <a:sysClr val="windowText" lastClr="000000"/>
                </a:solidFill>
              </a:rPr>
              <a:t>Start: 0.25 mg/day</a:t>
            </a:r>
          </a:p>
          <a:p>
            <a:r>
              <a:rPr lang="en-GB" noProof="0" dirty="0">
                <a:solidFill>
                  <a:sysClr val="windowText" lastClr="000000"/>
                </a:solidFill>
              </a:rPr>
              <a:t>Up to 2.5 mg/day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2A8C33-B657-91B9-98FE-635FD155CDDC}"/>
              </a:ext>
            </a:extLst>
          </p:cNvPr>
          <p:cNvSpPr/>
          <p:nvPr/>
        </p:nvSpPr>
        <p:spPr>
          <a:xfrm>
            <a:off x="1595121" y="4734532"/>
            <a:ext cx="5093500" cy="790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Primary endpoint at week 12</a:t>
            </a:r>
          </a:p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= Change in QIDS-SR16 score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1C99CE-18AB-FA4D-367B-916D1EEB7136}"/>
              </a:ext>
            </a:extLst>
          </p:cNvPr>
          <p:cNvSpPr/>
          <p:nvPr/>
        </p:nvSpPr>
        <p:spPr>
          <a:xfrm>
            <a:off x="1595121" y="5755500"/>
            <a:ext cx="5093500" cy="790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Follow-up to week 48</a:t>
            </a:r>
          </a:p>
          <a:p>
            <a:pPr algn="ctr"/>
            <a:r>
              <a:rPr lang="en-GB" noProof="0" dirty="0">
                <a:solidFill>
                  <a:sysClr val="windowText" lastClr="000000"/>
                </a:solidFill>
              </a:rPr>
              <a:t>Efficacity – Safety - Tolerability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EDF8F31-4AE1-6E06-96FB-CC57B66C66D1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>
            <a:off x="4107985" y="1526244"/>
            <a:ext cx="1" cy="175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15043DA-E67E-76C8-3355-63CBA3F34D18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4107986" y="2222653"/>
            <a:ext cx="0" cy="2161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AB1D31A7-7A67-F3FB-65DD-A38E191BB61E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rot="5400000">
            <a:off x="2462447" y="1697266"/>
            <a:ext cx="382872" cy="290820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4E530345-426C-6262-1B7B-D0792D69228F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rot="16200000" flipH="1">
            <a:off x="5206867" y="1861051"/>
            <a:ext cx="382872" cy="25806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61533F72-0DE5-F6FA-F3BB-1A9A49F344CF}"/>
              </a:ext>
            </a:extLst>
          </p:cNvPr>
          <p:cNvCxnSpPr>
            <a:cxnSpLocks/>
            <a:stCxn id="10" idx="2"/>
            <a:endCxn id="17" idx="0"/>
          </p:cNvCxnSpPr>
          <p:nvPr/>
        </p:nvCxnSpPr>
        <p:spPr>
          <a:xfrm rot="16200000" flipH="1">
            <a:off x="2456267" y="3048928"/>
            <a:ext cx="429116" cy="29420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C8F4F422-0ABA-DD23-8A16-112D25E0B91F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>
          <a:xfrm rot="5400000">
            <a:off x="5200689" y="3246599"/>
            <a:ext cx="429115" cy="25467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0284762-210D-C5C0-28D7-DD3AAA641097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4141871" y="5524753"/>
            <a:ext cx="0" cy="230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0915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EBA09-4D0D-EEA8-5C61-DE3B646AD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3CF52FE-EC14-E8E2-44B4-D803C59C743B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Study 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0F32BA-BBDF-3140-0B46-5EC9DF2EBA1A}"/>
              </a:ext>
            </a:extLst>
          </p:cNvPr>
          <p:cNvSpPr/>
          <p:nvPr/>
        </p:nvSpPr>
        <p:spPr>
          <a:xfrm>
            <a:off x="167956" y="923646"/>
            <a:ext cx="7866772" cy="6025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Inclusion and assessing participants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7FBF82-3453-D87E-1F03-407D070313D7}"/>
              </a:ext>
            </a:extLst>
          </p:cNvPr>
          <p:cNvSpPr/>
          <p:nvPr/>
        </p:nvSpPr>
        <p:spPr>
          <a:xfrm>
            <a:off x="167956" y="1659668"/>
            <a:ext cx="1480962" cy="12484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SOURCES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D79282-5AE8-7BF4-838F-B4047111CD3C}"/>
              </a:ext>
            </a:extLst>
          </p:cNvPr>
          <p:cNvSpPr/>
          <p:nvPr/>
        </p:nvSpPr>
        <p:spPr>
          <a:xfrm>
            <a:off x="1648918" y="1659668"/>
            <a:ext cx="6385810" cy="1248424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n-GB" sz="2000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Primary and </a:t>
            </a:r>
            <a:r>
              <a:rPr lang="en-GB" sz="2000" noProof="0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seconday</a:t>
            </a:r>
            <a:r>
              <a:rPr lang="en-GB" sz="2000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care services</a:t>
            </a:r>
          </a:p>
          <a:p>
            <a:pPr marL="171450" indent="-171450">
              <a:buFontTx/>
              <a:buChar char="-"/>
            </a:pPr>
            <a:r>
              <a:rPr lang="en-GB" sz="2000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Search in health system records</a:t>
            </a:r>
          </a:p>
          <a:p>
            <a:pPr marL="171450" indent="-171450">
              <a:buFontTx/>
              <a:buChar char="-"/>
            </a:pPr>
            <a:r>
              <a:rPr lang="en-GB" sz="2000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Adversising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64D661-FB91-7DCF-3211-E303569B015A}"/>
              </a:ext>
            </a:extLst>
          </p:cNvPr>
          <p:cNvSpPr/>
          <p:nvPr/>
        </p:nvSpPr>
        <p:spPr>
          <a:xfrm>
            <a:off x="167956" y="3176425"/>
            <a:ext cx="1480962" cy="193224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ASSESS-MENT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E76B0E-8FA4-0663-D8A4-E0E336A18F31}"/>
              </a:ext>
            </a:extLst>
          </p:cNvPr>
          <p:cNvSpPr/>
          <p:nvPr/>
        </p:nvSpPr>
        <p:spPr>
          <a:xfrm>
            <a:off x="1648918" y="3176426"/>
            <a:ext cx="6385810" cy="1932240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1950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Assessed and managed in their local secondary care service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1950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Lack of response of ≥ 2 antidepressants for this episode, for 4 weeks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1950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One antidepressant at time OR already augmentation strategy (≥ 2 antidepressants at the same time)</a:t>
            </a:r>
          </a:p>
        </p:txBody>
      </p:sp>
    </p:spTree>
    <p:extLst>
      <p:ext uri="{BB962C8B-B14F-4D97-AF65-F5344CB8AC3E}">
        <p14:creationId xmlns:p14="http://schemas.microsoft.com/office/powerpoint/2010/main" val="31943951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0B979-6E7A-930C-C04E-0E4764691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AD44C86-83D0-DD12-BA80-16639B547EC6}"/>
              </a:ext>
            </a:extLst>
          </p:cNvPr>
          <p:cNvSpPr/>
          <p:nvPr/>
        </p:nvSpPr>
        <p:spPr>
          <a:xfrm>
            <a:off x="8174294" y="827943"/>
            <a:ext cx="3879046" cy="424221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noProof="0" dirty="0">
                <a:solidFill>
                  <a:schemeClr val="tx1"/>
                </a:solidFill>
                <a:latin typeface="+mj-lt"/>
              </a:rPr>
              <a:t>Inclusion criteria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Adults ≥18 years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DSM-5 major depressive disorder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QIDS-SR16 &gt;10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Ongoing antidepressant treatment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Failure of ≥2 antidepressants in the current episode</a:t>
            </a:r>
          </a:p>
          <a:p>
            <a:endParaRPr lang="en-GB" noProof="0" dirty="0">
              <a:solidFill>
                <a:schemeClr val="tx1"/>
              </a:solidFill>
              <a:latin typeface="+mj-lt"/>
            </a:endParaRPr>
          </a:p>
          <a:p>
            <a:r>
              <a:rPr lang="en-GB" b="1" noProof="0" dirty="0">
                <a:solidFill>
                  <a:schemeClr val="tx1"/>
                </a:solidFill>
                <a:latin typeface="+mj-lt"/>
              </a:rPr>
              <a:t>  Exclusion criteria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Psychosis or bipolar disorder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Impulse control difficulties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Concomitant antipsychotic treatment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Contraindication / unstable medical illness</a:t>
            </a:r>
            <a:endParaRPr lang="en-GB" noProof="0" dirty="0">
              <a:solidFill>
                <a:schemeClr val="tx1"/>
              </a:solidFill>
              <a:latin typeface="Aptos Light" panose="020B00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C0E9AA-D259-7FA1-4CE6-772680F0CB1F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Study 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D37CDB-F0DC-D428-0D95-2B136BB648B4}"/>
              </a:ext>
            </a:extLst>
          </p:cNvPr>
          <p:cNvSpPr/>
          <p:nvPr/>
        </p:nvSpPr>
        <p:spPr>
          <a:xfrm>
            <a:off x="1844470" y="923646"/>
            <a:ext cx="4527029" cy="6025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Inclusion and assessing participants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0BB2FF-CC55-7387-A8B1-B0AE3F00A4AC}"/>
              </a:ext>
            </a:extLst>
          </p:cNvPr>
          <p:cNvSpPr/>
          <p:nvPr/>
        </p:nvSpPr>
        <p:spPr>
          <a:xfrm>
            <a:off x="3013023" y="1701481"/>
            <a:ext cx="2189925" cy="5211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noProof="0" dirty="0">
                <a:solidFill>
                  <a:sysClr val="windowText" lastClr="000000"/>
                </a:solidFill>
              </a:rPr>
              <a:t>2 weeks run-in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B38CD8-368D-D1CC-E655-519CBAC3CF02}"/>
              </a:ext>
            </a:extLst>
          </p:cNvPr>
          <p:cNvSpPr/>
          <p:nvPr/>
        </p:nvSpPr>
        <p:spPr>
          <a:xfrm>
            <a:off x="3013023" y="2438761"/>
            <a:ext cx="2189925" cy="5211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Randomization 1:1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1E29A7-271D-2554-FF6D-86EC21575E04}"/>
              </a:ext>
            </a:extLst>
          </p:cNvPr>
          <p:cNvSpPr/>
          <p:nvPr/>
        </p:nvSpPr>
        <p:spPr>
          <a:xfrm>
            <a:off x="167956" y="3342805"/>
            <a:ext cx="2063646" cy="96261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Placebo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04BC20-6ED6-6CB3-961F-3C0D95D66271}"/>
              </a:ext>
            </a:extLst>
          </p:cNvPr>
          <p:cNvSpPr/>
          <p:nvPr/>
        </p:nvSpPr>
        <p:spPr>
          <a:xfrm>
            <a:off x="5656798" y="3342805"/>
            <a:ext cx="2063646" cy="9626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Pramipexole  </a:t>
            </a:r>
          </a:p>
          <a:p>
            <a:r>
              <a:rPr lang="en-GB" noProof="0" dirty="0">
                <a:solidFill>
                  <a:sysClr val="windowText" lastClr="000000"/>
                </a:solidFill>
              </a:rPr>
              <a:t>Start: 0.25 mg/day</a:t>
            </a:r>
          </a:p>
          <a:p>
            <a:r>
              <a:rPr lang="en-GB" noProof="0" dirty="0">
                <a:solidFill>
                  <a:sysClr val="windowText" lastClr="000000"/>
                </a:solidFill>
              </a:rPr>
              <a:t>Up to 2.5 mg/day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293912-778B-A71E-0842-41E2A8C2E44E}"/>
              </a:ext>
            </a:extLst>
          </p:cNvPr>
          <p:cNvSpPr/>
          <p:nvPr/>
        </p:nvSpPr>
        <p:spPr>
          <a:xfrm>
            <a:off x="1595121" y="4734532"/>
            <a:ext cx="5093500" cy="790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Primary endpoint at week 12</a:t>
            </a:r>
          </a:p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= Change in QIDS-SR16 score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67DC69-B81C-8911-D2A4-5FBB72F95CD0}"/>
              </a:ext>
            </a:extLst>
          </p:cNvPr>
          <p:cNvSpPr/>
          <p:nvPr/>
        </p:nvSpPr>
        <p:spPr>
          <a:xfrm>
            <a:off x="1595121" y="5755500"/>
            <a:ext cx="5093500" cy="790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Follow-up to week 48</a:t>
            </a:r>
          </a:p>
          <a:p>
            <a:pPr algn="ctr"/>
            <a:r>
              <a:rPr lang="en-GB" noProof="0" dirty="0">
                <a:solidFill>
                  <a:sysClr val="windowText" lastClr="000000"/>
                </a:solidFill>
              </a:rPr>
              <a:t>Efficacity – Safety - Tolerability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57C4515-BD07-0E03-55B6-1265DC275B9D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>
            <a:off x="4107985" y="1526244"/>
            <a:ext cx="1" cy="175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607C2F-13DC-5579-FE4F-9EB8CF243809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4107986" y="2222653"/>
            <a:ext cx="0" cy="2161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C1E283AA-D7E6-0216-8C94-19A5B2B5F670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rot="5400000">
            <a:off x="2462447" y="1697266"/>
            <a:ext cx="382872" cy="290820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407B371E-59BF-729B-E6F8-EAFD3AED6872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rot="16200000" flipH="1">
            <a:off x="5206867" y="1861051"/>
            <a:ext cx="382872" cy="25806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E534310B-CE7C-3C3D-967C-AA0489CFC9F0}"/>
              </a:ext>
            </a:extLst>
          </p:cNvPr>
          <p:cNvCxnSpPr>
            <a:cxnSpLocks/>
            <a:stCxn id="10" idx="2"/>
            <a:endCxn id="17" idx="0"/>
          </p:cNvCxnSpPr>
          <p:nvPr/>
        </p:nvCxnSpPr>
        <p:spPr>
          <a:xfrm rot="16200000" flipH="1">
            <a:off x="2456267" y="3048928"/>
            <a:ext cx="429116" cy="29420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6E0F463B-89BA-9CB4-DB1D-04053E153307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>
          <a:xfrm rot="5400000">
            <a:off x="5200689" y="3246599"/>
            <a:ext cx="429115" cy="25467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A66244D-0F4B-71F5-2D17-48A7B6633C21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4141871" y="5524753"/>
            <a:ext cx="0" cy="230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4577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C6D65-4F05-D73C-D26F-CF449448C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908E75E-74C0-164B-DF13-081F1D1C9970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Study design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CABB0-E37B-7A4D-C1FC-5EC415E7673C}"/>
              </a:ext>
            </a:extLst>
          </p:cNvPr>
          <p:cNvSpPr/>
          <p:nvPr/>
        </p:nvSpPr>
        <p:spPr>
          <a:xfrm>
            <a:off x="167956" y="1659668"/>
            <a:ext cx="1480962" cy="21328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METHODS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CD112A8-B969-2B63-6D6C-A0854F55C760}"/>
              </a:ext>
            </a:extLst>
          </p:cNvPr>
          <p:cNvSpPr/>
          <p:nvPr/>
        </p:nvSpPr>
        <p:spPr>
          <a:xfrm>
            <a:off x="1648918" y="1659667"/>
            <a:ext cx="6385810" cy="2132843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Online randomisation system</a:t>
            </a:r>
            <a:endParaRPr lang="en-GB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MINIMISATION after 10 patients randomized with 80% bias</a:t>
            </a:r>
          </a:p>
          <a:p>
            <a:pPr marL="628650" lvl="1" indent="-171450">
              <a:buFontTx/>
              <a:buChar char="-"/>
            </a:pPr>
            <a:r>
              <a:rPr lang="en-GB" sz="2000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center</a:t>
            </a:r>
            <a:endParaRPr lang="en-GB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628650" lvl="1" indent="-171450"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Age &lt; 50 vs &gt; 50 </a:t>
            </a:r>
            <a:r>
              <a:rPr lang="en-GB" sz="2000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yo</a:t>
            </a:r>
            <a:endParaRPr lang="en-GB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628650" lvl="1" indent="-171450"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Gender</a:t>
            </a:r>
          </a:p>
          <a:p>
            <a:pPr marL="628650" lvl="1" indent="-171450"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Severity (QIDS-SR16)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8909EFD-3269-6F8C-B02D-2B49D7665D99}"/>
              </a:ext>
            </a:extLst>
          </p:cNvPr>
          <p:cNvSpPr/>
          <p:nvPr/>
        </p:nvSpPr>
        <p:spPr>
          <a:xfrm>
            <a:off x="167956" y="4038347"/>
            <a:ext cx="1480962" cy="19877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DOUBLE-BLIND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9F58C1-6732-2148-B334-21EA39A5B507}"/>
              </a:ext>
            </a:extLst>
          </p:cNvPr>
          <p:cNvSpPr/>
          <p:nvPr/>
        </p:nvSpPr>
        <p:spPr>
          <a:xfrm>
            <a:off x="1648918" y="4038347"/>
            <a:ext cx="6385810" cy="1987700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Open label only for central pharmacy team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At the end of the study : patients could continue pramipexole if wanted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Participants asked to guess their confidence on receiving pramipexole or placebo (0 to 4)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B8DBBA4-695F-6296-253E-79127D5CF418}"/>
              </a:ext>
            </a:extLst>
          </p:cNvPr>
          <p:cNvSpPr/>
          <p:nvPr/>
        </p:nvSpPr>
        <p:spPr>
          <a:xfrm>
            <a:off x="167956" y="938635"/>
            <a:ext cx="7866772" cy="6025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Randomization 1:1</a:t>
            </a:r>
          </a:p>
        </p:txBody>
      </p:sp>
    </p:spTree>
    <p:extLst>
      <p:ext uri="{BB962C8B-B14F-4D97-AF65-F5344CB8AC3E}">
        <p14:creationId xmlns:p14="http://schemas.microsoft.com/office/powerpoint/2010/main" val="20260452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85240-22D2-7DED-79BE-A7FC9D8B2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FCE18B-4527-0009-C33F-DFA7C58E65DF}"/>
              </a:ext>
            </a:extLst>
          </p:cNvPr>
          <p:cNvSpPr/>
          <p:nvPr/>
        </p:nvSpPr>
        <p:spPr>
          <a:xfrm>
            <a:off x="8174294" y="827943"/>
            <a:ext cx="3879046" cy="424221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noProof="0" dirty="0">
                <a:solidFill>
                  <a:schemeClr val="tx1"/>
                </a:solidFill>
                <a:latin typeface="+mj-lt"/>
              </a:rPr>
              <a:t>Inclusion criteria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Adults ≥18 years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DSM-5 major depressive disorder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QIDS-SR16 &gt;10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Ongoing antidepressant treatment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Failure of ≥2 antidepressants in the current episode</a:t>
            </a:r>
          </a:p>
          <a:p>
            <a:endParaRPr lang="en-GB" noProof="0" dirty="0">
              <a:solidFill>
                <a:schemeClr val="tx1"/>
              </a:solidFill>
              <a:latin typeface="+mj-lt"/>
            </a:endParaRPr>
          </a:p>
          <a:p>
            <a:r>
              <a:rPr lang="en-GB" b="1" noProof="0" dirty="0">
                <a:solidFill>
                  <a:schemeClr val="tx1"/>
                </a:solidFill>
                <a:latin typeface="+mj-lt"/>
              </a:rPr>
              <a:t>  Exclusion criteria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Psychosis or bipolar disorder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Impulse control difficulties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Concomitant antipsychotic treatment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Contraindication / unstable medical illness</a:t>
            </a:r>
            <a:endParaRPr lang="en-GB" noProof="0" dirty="0">
              <a:solidFill>
                <a:schemeClr val="tx1"/>
              </a:solidFill>
              <a:latin typeface="Aptos Light" panose="020B00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B0E6B4-0ACF-6FC9-1121-5A97DCA38E86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Study 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F37CAA-2BCC-C3E1-6AF6-2BC003C2A8DF}"/>
              </a:ext>
            </a:extLst>
          </p:cNvPr>
          <p:cNvSpPr/>
          <p:nvPr/>
        </p:nvSpPr>
        <p:spPr>
          <a:xfrm>
            <a:off x="1844470" y="923646"/>
            <a:ext cx="4527029" cy="6025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Inclusion and assessing participants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FD70AD-0D39-7B15-FCDD-7C5AC000786F}"/>
              </a:ext>
            </a:extLst>
          </p:cNvPr>
          <p:cNvSpPr/>
          <p:nvPr/>
        </p:nvSpPr>
        <p:spPr>
          <a:xfrm>
            <a:off x="3013023" y="1701481"/>
            <a:ext cx="2189925" cy="5211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noProof="0" dirty="0">
                <a:solidFill>
                  <a:sysClr val="windowText" lastClr="000000"/>
                </a:solidFill>
              </a:rPr>
              <a:t>2 weeks run-in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5697BF-7DF0-841C-D51E-2C4AA8132340}"/>
              </a:ext>
            </a:extLst>
          </p:cNvPr>
          <p:cNvSpPr/>
          <p:nvPr/>
        </p:nvSpPr>
        <p:spPr>
          <a:xfrm>
            <a:off x="3013023" y="2438761"/>
            <a:ext cx="2189925" cy="5211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Randomization 1:1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F8AC67-58EA-2F51-ED6D-0F2D316E2DAB}"/>
              </a:ext>
            </a:extLst>
          </p:cNvPr>
          <p:cNvSpPr/>
          <p:nvPr/>
        </p:nvSpPr>
        <p:spPr>
          <a:xfrm>
            <a:off x="167956" y="3342805"/>
            <a:ext cx="2063646" cy="96261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Placebo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A4825F-0545-FF06-5D5D-7FC2FB49DC75}"/>
              </a:ext>
            </a:extLst>
          </p:cNvPr>
          <p:cNvSpPr/>
          <p:nvPr/>
        </p:nvSpPr>
        <p:spPr>
          <a:xfrm>
            <a:off x="5656798" y="3342805"/>
            <a:ext cx="2063646" cy="9626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Pramipexole  </a:t>
            </a:r>
          </a:p>
          <a:p>
            <a:r>
              <a:rPr lang="en-GB" noProof="0" dirty="0">
                <a:solidFill>
                  <a:sysClr val="windowText" lastClr="000000"/>
                </a:solidFill>
              </a:rPr>
              <a:t>Start: 0.25 mg/day</a:t>
            </a:r>
          </a:p>
          <a:p>
            <a:r>
              <a:rPr lang="en-GB" noProof="0" dirty="0">
                <a:solidFill>
                  <a:sysClr val="windowText" lastClr="000000"/>
                </a:solidFill>
              </a:rPr>
              <a:t>Up to 2.5 mg/day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D5903E-B003-7063-421B-193985BDD3D0}"/>
              </a:ext>
            </a:extLst>
          </p:cNvPr>
          <p:cNvSpPr/>
          <p:nvPr/>
        </p:nvSpPr>
        <p:spPr>
          <a:xfrm>
            <a:off x="1595121" y="4734532"/>
            <a:ext cx="5093500" cy="790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Primary endpoint at week 12</a:t>
            </a:r>
          </a:p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= Change in QIDS-SR16 score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FAE881-4BC3-A846-227A-AC5BDA755304}"/>
              </a:ext>
            </a:extLst>
          </p:cNvPr>
          <p:cNvSpPr/>
          <p:nvPr/>
        </p:nvSpPr>
        <p:spPr>
          <a:xfrm>
            <a:off x="1595121" y="5755500"/>
            <a:ext cx="5093500" cy="790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Follow-up to week 48</a:t>
            </a:r>
          </a:p>
          <a:p>
            <a:pPr algn="ctr"/>
            <a:r>
              <a:rPr lang="en-GB" noProof="0" dirty="0">
                <a:solidFill>
                  <a:sysClr val="windowText" lastClr="000000"/>
                </a:solidFill>
              </a:rPr>
              <a:t>Efficacity – Safety - Tolerability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5299BE7-DF68-1613-9A18-67ED67620974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>
            <a:off x="4107985" y="1526244"/>
            <a:ext cx="1" cy="175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93F59F5-A81D-2124-EC6B-EE07E4D47E58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4107986" y="2222653"/>
            <a:ext cx="0" cy="2161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D43BE517-1A75-2B41-8C03-89D3DF9678F4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5400000">
            <a:off x="2462447" y="1697266"/>
            <a:ext cx="382872" cy="290820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18B2F9A9-4311-DFD1-7976-44029DC41122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rot="16200000" flipH="1">
            <a:off x="5206867" y="1861051"/>
            <a:ext cx="382872" cy="25806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DE3896E2-696B-72E9-C878-03E3F12BE6F9}"/>
              </a:ext>
            </a:extLst>
          </p:cNvPr>
          <p:cNvCxnSpPr>
            <a:cxnSpLocks/>
            <a:stCxn id="10" idx="2"/>
            <a:endCxn id="17" idx="0"/>
          </p:cNvCxnSpPr>
          <p:nvPr/>
        </p:nvCxnSpPr>
        <p:spPr>
          <a:xfrm rot="16200000" flipH="1">
            <a:off x="2456267" y="3048928"/>
            <a:ext cx="429116" cy="29420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203BEEA-CE0D-2088-4847-14857E569345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>
          <a:xfrm rot="5400000">
            <a:off x="5200689" y="3246599"/>
            <a:ext cx="429115" cy="25467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2448EC8-F3C1-9702-9E71-D7434D3DB088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4141871" y="5524753"/>
            <a:ext cx="0" cy="230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934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35EF4-439C-0E62-86B6-E5805DB7D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F96B1F6-F493-59C5-228B-86D8500CA322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Study design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FEF90C-E4E5-0980-3DBE-C516F48BB406}"/>
              </a:ext>
            </a:extLst>
          </p:cNvPr>
          <p:cNvSpPr/>
          <p:nvPr/>
        </p:nvSpPr>
        <p:spPr>
          <a:xfrm>
            <a:off x="167956" y="894109"/>
            <a:ext cx="2063646" cy="96261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Placebo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7E014C-FF72-09B0-CAA2-54A961083574}"/>
              </a:ext>
            </a:extLst>
          </p:cNvPr>
          <p:cNvSpPr/>
          <p:nvPr/>
        </p:nvSpPr>
        <p:spPr>
          <a:xfrm>
            <a:off x="5656798" y="894109"/>
            <a:ext cx="2063646" cy="9626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Pramipexole  </a:t>
            </a:r>
          </a:p>
          <a:p>
            <a:r>
              <a:rPr lang="en-GB" noProof="0" dirty="0">
                <a:solidFill>
                  <a:sysClr val="windowText" lastClr="000000"/>
                </a:solidFill>
              </a:rPr>
              <a:t>Start: 0.25 mg/day</a:t>
            </a:r>
          </a:p>
          <a:p>
            <a:r>
              <a:rPr lang="en-GB" noProof="0" dirty="0">
                <a:solidFill>
                  <a:sysClr val="windowText" lastClr="000000"/>
                </a:solidFill>
              </a:rPr>
              <a:t>Up to 2.5 mg/day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9B9FB9-0716-FAED-2CB5-09EDBA1AFE5A}"/>
              </a:ext>
            </a:extLst>
          </p:cNvPr>
          <p:cNvSpPr/>
          <p:nvPr/>
        </p:nvSpPr>
        <p:spPr>
          <a:xfrm>
            <a:off x="167956" y="2139353"/>
            <a:ext cx="1480962" cy="12896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PROCE-DURES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E45A9A-846C-1A44-DACA-778D7432B2B1}"/>
              </a:ext>
            </a:extLst>
          </p:cNvPr>
          <p:cNvSpPr/>
          <p:nvPr/>
        </p:nvSpPr>
        <p:spPr>
          <a:xfrm>
            <a:off x="1648918" y="2139352"/>
            <a:ext cx="6385810" cy="1289647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 weeks run-in (stability)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Dose increased each 3 days, targeting 2,5mg in 4 weeks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If side-effects : maximum dose permitted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42AD06-31E1-4DCD-EED2-22ABA15A44BB}"/>
              </a:ext>
            </a:extLst>
          </p:cNvPr>
          <p:cNvSpPr/>
          <p:nvPr/>
        </p:nvSpPr>
        <p:spPr>
          <a:xfrm>
            <a:off x="167956" y="3711630"/>
            <a:ext cx="1480962" cy="12896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CHANGES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59247E-DEC3-2E1F-E780-BC7CCC83EACF}"/>
              </a:ext>
            </a:extLst>
          </p:cNvPr>
          <p:cNvSpPr/>
          <p:nvPr/>
        </p:nvSpPr>
        <p:spPr>
          <a:xfrm>
            <a:off x="1648918" y="3711630"/>
            <a:ext cx="6385810" cy="1289647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Changes of the initial antidepressant permitted &gt; 12wks</a:t>
            </a:r>
          </a:p>
        </p:txBody>
      </p:sp>
    </p:spTree>
    <p:extLst>
      <p:ext uri="{BB962C8B-B14F-4D97-AF65-F5344CB8AC3E}">
        <p14:creationId xmlns:p14="http://schemas.microsoft.com/office/powerpoint/2010/main" val="7075679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A0896-5040-D02F-DED0-9742EAD03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D993D85-AF06-3342-01D4-F48BF77E005F}"/>
              </a:ext>
            </a:extLst>
          </p:cNvPr>
          <p:cNvSpPr/>
          <p:nvPr/>
        </p:nvSpPr>
        <p:spPr>
          <a:xfrm>
            <a:off x="8174294" y="827943"/>
            <a:ext cx="3879046" cy="424221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noProof="0" dirty="0">
                <a:solidFill>
                  <a:schemeClr val="tx1"/>
                </a:solidFill>
                <a:latin typeface="+mj-lt"/>
              </a:rPr>
              <a:t>Inclusion criteria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Adults ≥18 years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DSM-5 major depressive disorder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QIDS-SR16 &gt;10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Ongoing antidepressant treatment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Failure of ≥2 antidepressants in the current episode</a:t>
            </a:r>
          </a:p>
          <a:p>
            <a:endParaRPr lang="en-GB" noProof="0" dirty="0">
              <a:solidFill>
                <a:schemeClr val="tx1"/>
              </a:solidFill>
              <a:latin typeface="+mj-lt"/>
            </a:endParaRPr>
          </a:p>
          <a:p>
            <a:r>
              <a:rPr lang="en-GB" b="1" noProof="0" dirty="0">
                <a:solidFill>
                  <a:schemeClr val="tx1"/>
                </a:solidFill>
                <a:latin typeface="+mj-lt"/>
              </a:rPr>
              <a:t>  Exclusion criteria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Psychosis or bipolar disorder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Impulse control difficulties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Concomitant antipsychotic treatment</a:t>
            </a:r>
          </a:p>
          <a:p>
            <a:pPr marL="285750" indent="-285750">
              <a:buFontTx/>
              <a:buChar char="-"/>
            </a:pPr>
            <a:r>
              <a:rPr lang="en-GB" noProof="0" dirty="0">
                <a:solidFill>
                  <a:schemeClr val="tx1"/>
                </a:solidFill>
                <a:latin typeface="+mj-lt"/>
              </a:rPr>
              <a:t>Contraindication / unstable medical illness</a:t>
            </a:r>
            <a:endParaRPr lang="en-GB" noProof="0" dirty="0">
              <a:solidFill>
                <a:schemeClr val="tx1"/>
              </a:solidFill>
              <a:latin typeface="Aptos Light" panose="020B00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AAD59F-B2A1-E54D-97D4-24EAE155C91F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Study 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CBD204-2741-7F79-1ABF-5607CB218FD0}"/>
              </a:ext>
            </a:extLst>
          </p:cNvPr>
          <p:cNvSpPr/>
          <p:nvPr/>
        </p:nvSpPr>
        <p:spPr>
          <a:xfrm>
            <a:off x="1844470" y="923646"/>
            <a:ext cx="4527029" cy="6025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Inclusion and assessing participants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FDE4B7-DC3D-65C8-F01A-B97C68A1AB67}"/>
              </a:ext>
            </a:extLst>
          </p:cNvPr>
          <p:cNvSpPr/>
          <p:nvPr/>
        </p:nvSpPr>
        <p:spPr>
          <a:xfrm>
            <a:off x="3013023" y="1701481"/>
            <a:ext cx="2189925" cy="5211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noProof="0" dirty="0">
                <a:solidFill>
                  <a:sysClr val="windowText" lastClr="000000"/>
                </a:solidFill>
              </a:rPr>
              <a:t>2 weeks run-in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7DBB8F-034E-B0ED-BD13-559F5E86EF9A}"/>
              </a:ext>
            </a:extLst>
          </p:cNvPr>
          <p:cNvSpPr/>
          <p:nvPr/>
        </p:nvSpPr>
        <p:spPr>
          <a:xfrm>
            <a:off x="3013023" y="2438761"/>
            <a:ext cx="2189925" cy="5211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Randomization 1:1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CD0523-ED02-E7AA-DF5C-511F9FEFA7DD}"/>
              </a:ext>
            </a:extLst>
          </p:cNvPr>
          <p:cNvSpPr/>
          <p:nvPr/>
        </p:nvSpPr>
        <p:spPr>
          <a:xfrm>
            <a:off x="167956" y="3342805"/>
            <a:ext cx="2063646" cy="96261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Placebo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6A1090-7E7F-2172-3FF9-9F6CE53C0CB5}"/>
              </a:ext>
            </a:extLst>
          </p:cNvPr>
          <p:cNvSpPr/>
          <p:nvPr/>
        </p:nvSpPr>
        <p:spPr>
          <a:xfrm>
            <a:off x="5656798" y="3342805"/>
            <a:ext cx="2063646" cy="9626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Pramipexole  </a:t>
            </a:r>
          </a:p>
          <a:p>
            <a:r>
              <a:rPr lang="en-GB" noProof="0" dirty="0">
                <a:solidFill>
                  <a:sysClr val="windowText" lastClr="000000"/>
                </a:solidFill>
              </a:rPr>
              <a:t>Start: 0.25 mg/day</a:t>
            </a:r>
          </a:p>
          <a:p>
            <a:r>
              <a:rPr lang="en-GB" noProof="0" dirty="0">
                <a:solidFill>
                  <a:sysClr val="windowText" lastClr="000000"/>
                </a:solidFill>
              </a:rPr>
              <a:t>Up to 2.5 mg/day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F7D8B9-64BD-0283-D83A-34860A2BC2B1}"/>
              </a:ext>
            </a:extLst>
          </p:cNvPr>
          <p:cNvSpPr/>
          <p:nvPr/>
        </p:nvSpPr>
        <p:spPr>
          <a:xfrm>
            <a:off x="1595121" y="4734532"/>
            <a:ext cx="5093500" cy="790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Primary endpoint at week 12</a:t>
            </a:r>
          </a:p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= Change in QIDS-SR16 score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2F2EA8-31E3-A104-EB3A-AC2E20A65A79}"/>
              </a:ext>
            </a:extLst>
          </p:cNvPr>
          <p:cNvSpPr/>
          <p:nvPr/>
        </p:nvSpPr>
        <p:spPr>
          <a:xfrm>
            <a:off x="1595121" y="5755500"/>
            <a:ext cx="5093500" cy="790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Follow-up to week 48</a:t>
            </a:r>
          </a:p>
          <a:p>
            <a:pPr algn="ctr"/>
            <a:r>
              <a:rPr lang="en-GB" noProof="0" dirty="0">
                <a:solidFill>
                  <a:sysClr val="windowText" lastClr="000000"/>
                </a:solidFill>
              </a:rPr>
              <a:t>Efficacity – Safety - Tolerability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0EC6AC1-30E7-D072-FFFE-5641655ECAAB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>
            <a:off x="4107985" y="1526244"/>
            <a:ext cx="1" cy="175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5BD5DA9-69E4-31FB-63C0-EFD04B9A50AC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4107986" y="2222653"/>
            <a:ext cx="0" cy="2161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353A8556-7C42-96BA-D05E-EA9DE9607E8B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rot="5400000">
            <a:off x="2462447" y="1697266"/>
            <a:ext cx="382872" cy="290820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BDD781D6-F58D-7334-51D4-EAD9B59E4094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rot="16200000" flipH="1">
            <a:off x="5206867" y="1861051"/>
            <a:ext cx="382872" cy="25806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47512CAE-0BF3-1F10-6764-FE5C86EB89E3}"/>
              </a:ext>
            </a:extLst>
          </p:cNvPr>
          <p:cNvCxnSpPr>
            <a:cxnSpLocks/>
            <a:stCxn id="10" idx="2"/>
            <a:endCxn id="17" idx="0"/>
          </p:cNvCxnSpPr>
          <p:nvPr/>
        </p:nvCxnSpPr>
        <p:spPr>
          <a:xfrm rot="16200000" flipH="1">
            <a:off x="2456267" y="3048928"/>
            <a:ext cx="429116" cy="29420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1B87A07D-C93B-9132-F0C9-C123530CD614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>
          <a:xfrm rot="5400000">
            <a:off x="5200689" y="3246599"/>
            <a:ext cx="429115" cy="25467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B65D9B0-6079-CAFD-F78C-EA4CE575D546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4141871" y="5524753"/>
            <a:ext cx="0" cy="230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5144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CCD25-6C48-DF1F-EC1A-6DE6491C8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DF85311-E943-9857-05F6-C2D5794CB509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Study design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E31C37-694E-8B71-875C-3508CD61C95F}"/>
              </a:ext>
            </a:extLst>
          </p:cNvPr>
          <p:cNvSpPr/>
          <p:nvPr/>
        </p:nvSpPr>
        <p:spPr>
          <a:xfrm>
            <a:off x="167955" y="929268"/>
            <a:ext cx="7866771" cy="9105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Primary endpoint at week 12</a:t>
            </a:r>
          </a:p>
          <a:p>
            <a:pPr algn="ctr"/>
            <a:r>
              <a:rPr lang="en-GB" b="1" noProof="0" dirty="0">
                <a:solidFill>
                  <a:sysClr val="windowText" lastClr="000000"/>
                </a:solidFill>
              </a:rPr>
              <a:t>= Change in QIDS-SR16 score 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0A83C4-F5DC-30FF-7703-B4EFCE3C2AC2}"/>
              </a:ext>
            </a:extLst>
          </p:cNvPr>
          <p:cNvSpPr/>
          <p:nvPr/>
        </p:nvSpPr>
        <p:spPr>
          <a:xfrm>
            <a:off x="167956" y="2139353"/>
            <a:ext cx="1480962" cy="12896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PRIMARY</a:t>
            </a:r>
            <a:endParaRPr lang="en-GB" sz="2400" b="1" noProof="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4C1E04-6708-9951-CDB2-53E03A4A7995}"/>
              </a:ext>
            </a:extLst>
          </p:cNvPr>
          <p:cNvSpPr/>
          <p:nvPr/>
        </p:nvSpPr>
        <p:spPr>
          <a:xfrm>
            <a:off x="1648918" y="2139352"/>
            <a:ext cx="6385810" cy="1289647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Change from baseline in QIDS-SR16 (0 to 27) at week 12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/1wk before week 12 then /4wks after week 12 up to wk48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i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Well validated scale with good psychometric properties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492FEE-13AA-2D1B-C460-F79ABA006A1D}"/>
              </a:ext>
            </a:extLst>
          </p:cNvPr>
          <p:cNvSpPr/>
          <p:nvPr/>
        </p:nvSpPr>
        <p:spPr>
          <a:xfrm>
            <a:off x="167956" y="3728571"/>
            <a:ext cx="1480962" cy="23274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SECON-DARIES</a:t>
            </a:r>
            <a:endParaRPr lang="en-GB" sz="2400" b="1" noProof="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1DA150-7194-4B07-8FA1-EB8657CE0E73}"/>
              </a:ext>
            </a:extLst>
          </p:cNvPr>
          <p:cNvSpPr/>
          <p:nvPr/>
        </p:nvSpPr>
        <p:spPr>
          <a:xfrm>
            <a:off x="1648916" y="3728571"/>
            <a:ext cx="6385810" cy="2327455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Change QIDS-SR16 at week 48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Response and remission in QIDS-SR16 at week 12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14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Clinician rated QIDS-C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14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Snaith Hamilton Pleasure Scale for rating anhedonia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14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General Anxiety Disorder Score (GAD-7)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14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Others questionnaires related to depression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Adverse : impulsive, mania, etc with questionnaires</a:t>
            </a:r>
          </a:p>
        </p:txBody>
      </p:sp>
    </p:spTree>
    <p:extLst>
      <p:ext uri="{BB962C8B-B14F-4D97-AF65-F5344CB8AC3E}">
        <p14:creationId xmlns:p14="http://schemas.microsoft.com/office/powerpoint/2010/main" val="42557797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393C7-2842-3D4F-9FFD-03863AC0F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E74A1A7-A3A4-7AB7-A922-0054AEABDC8A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Statistical analysis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42ADA8-31D6-5309-65AE-E3AD0A177558}"/>
              </a:ext>
            </a:extLst>
          </p:cNvPr>
          <p:cNvSpPr/>
          <p:nvPr/>
        </p:nvSpPr>
        <p:spPr>
          <a:xfrm>
            <a:off x="651974" y="2955489"/>
            <a:ext cx="10888052" cy="1484643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i="1" noProof="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039CF7-7A48-442B-3712-D1A010B810F5}"/>
              </a:ext>
            </a:extLst>
          </p:cNvPr>
          <p:cNvSpPr/>
          <p:nvPr/>
        </p:nvSpPr>
        <p:spPr>
          <a:xfrm>
            <a:off x="651974" y="1432984"/>
            <a:ext cx="10888052" cy="984885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i="1" noProof="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8EA212D-7E8F-4FE9-EF06-66703265005A}"/>
              </a:ext>
            </a:extLst>
          </p:cNvPr>
          <p:cNvSpPr txBox="1"/>
          <p:nvPr/>
        </p:nvSpPr>
        <p:spPr>
          <a:xfrm>
            <a:off x="979357" y="3060631"/>
            <a:ext cx="103063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noProof="0" dirty="0">
                <a:latin typeface="Aptos" panose="020B0004020202020204" pitchFamily="34" charset="0"/>
              </a:rPr>
              <a:t>Power (β risk): 90%</a:t>
            </a:r>
          </a:p>
          <a:p>
            <a:r>
              <a:rPr lang="en-GB" noProof="0" dirty="0">
                <a:latin typeface="Aptos" panose="020B0004020202020204" pitchFamily="34" charset="0"/>
              </a:rPr>
              <a:t>Type 1 error (</a:t>
            </a:r>
            <a:r>
              <a:rPr lang="en-GB" noProof="0" dirty="0" err="1">
                <a:latin typeface="Aptos" panose="020B0004020202020204" pitchFamily="34" charset="0"/>
              </a:rPr>
              <a:t>ɑ</a:t>
            </a:r>
            <a:r>
              <a:rPr lang="en-GB" noProof="0" dirty="0">
                <a:latin typeface="Aptos" panose="020B0004020202020204" pitchFamily="34" charset="0"/>
              </a:rPr>
              <a:t>) : 5%</a:t>
            </a:r>
          </a:p>
          <a:p>
            <a:r>
              <a:rPr lang="en-GB" dirty="0">
                <a:latin typeface="Aptos" panose="020B0004020202020204" pitchFamily="34" charset="0"/>
              </a:rPr>
              <a:t>Initial drop out rate at week 12 assumed at 20% (8% finally)</a:t>
            </a:r>
          </a:p>
          <a:p>
            <a:r>
              <a:rPr lang="en-GB" dirty="0">
                <a:latin typeface="Aptos" panose="020B0004020202020204" pitchFamily="34" charset="0"/>
                <a:sym typeface="Wingdings" pitchFamily="2" charset="2"/>
              </a:rPr>
              <a:t> </a:t>
            </a:r>
            <a:r>
              <a:rPr lang="en-GB" dirty="0">
                <a:latin typeface="Aptos" panose="020B0004020202020204" pitchFamily="34" charset="0"/>
              </a:rPr>
              <a:t> 75 patients included in ITT.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6BD1FEC-DD21-4124-EC06-E3FC15701042}"/>
              </a:ext>
            </a:extLst>
          </p:cNvPr>
          <p:cNvSpPr txBox="1"/>
          <p:nvPr/>
        </p:nvSpPr>
        <p:spPr>
          <a:xfrm>
            <a:off x="979357" y="2555379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noProof="0" dirty="0">
                <a:latin typeface="Aptos" panose="020B0004020202020204" pitchFamily="34" charset="0"/>
              </a:rPr>
              <a:t>Sample Size Determination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D1CAAAB-60D1-B2CD-BB2F-B99F7218F704}"/>
              </a:ext>
            </a:extLst>
          </p:cNvPr>
          <p:cNvSpPr txBox="1"/>
          <p:nvPr/>
        </p:nvSpPr>
        <p:spPr>
          <a:xfrm>
            <a:off x="946893" y="1648973"/>
            <a:ext cx="1030637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noProof="0" dirty="0"/>
              <a:t>Primary Endpoint : ≥ 3 points differences on QIDS-SR</a:t>
            </a:r>
          </a:p>
          <a:p>
            <a:pPr marL="342900" indent="-342900">
              <a:buFontTx/>
              <a:buChar char="-"/>
            </a:pPr>
            <a:r>
              <a:rPr lang="en-GB" sz="2000" i="1" dirty="0">
                <a:latin typeface="Aptos Light" panose="020B0004020202020204" pitchFamily="34" charset="0"/>
              </a:rPr>
              <a:t>SD of the score = 5,4 </a:t>
            </a:r>
            <a:r>
              <a:rPr lang="en-GB" sz="2000" i="1" dirty="0">
                <a:latin typeface="Aptos Light" panose="020B0004020202020204" pitchFamily="34" charset="0"/>
                <a:sym typeface="Wingdings" pitchFamily="2" charset="2"/>
              </a:rPr>
              <a:t> standardized effect size of 5,4/3 = 0,56</a:t>
            </a:r>
          </a:p>
          <a:p>
            <a:endParaRPr lang="en-GB" i="1" noProof="0" dirty="0">
              <a:latin typeface="Aptos Light" panose="020B0004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1A46BFB-3551-CFA7-183C-551410FB9B7B}"/>
              </a:ext>
            </a:extLst>
          </p:cNvPr>
          <p:cNvSpPr txBox="1"/>
          <p:nvPr/>
        </p:nvSpPr>
        <p:spPr>
          <a:xfrm>
            <a:off x="965693" y="1011932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noProof="0" dirty="0">
                <a:latin typeface="Aptos" panose="020B0004020202020204" pitchFamily="34" charset="0"/>
              </a:rPr>
              <a:t>Endpoints</a:t>
            </a:r>
          </a:p>
        </p:txBody>
      </p:sp>
    </p:spTree>
    <p:extLst>
      <p:ext uri="{BB962C8B-B14F-4D97-AF65-F5344CB8AC3E}">
        <p14:creationId xmlns:p14="http://schemas.microsoft.com/office/powerpoint/2010/main" val="484578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63C87-5D85-0764-DAB6-63138E0C6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925A15C-BECC-7835-78BB-86FF49E91B17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Statistical analysis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754779-9BFD-8097-88D5-2B1CF70533A4}"/>
              </a:ext>
            </a:extLst>
          </p:cNvPr>
          <p:cNvSpPr/>
          <p:nvPr/>
        </p:nvSpPr>
        <p:spPr>
          <a:xfrm>
            <a:off x="651974" y="1432985"/>
            <a:ext cx="10888052" cy="395111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i="1" noProof="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3DDDAEE-8033-DD41-0F9B-D7A868BE5DC7}"/>
              </a:ext>
            </a:extLst>
          </p:cNvPr>
          <p:cNvSpPr txBox="1"/>
          <p:nvPr/>
        </p:nvSpPr>
        <p:spPr>
          <a:xfrm>
            <a:off x="942813" y="1458764"/>
            <a:ext cx="10306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ptos Light" panose="020B0004020202020204" pitchFamily="34" charset="0"/>
              </a:rPr>
              <a:t>Analysed using a generalised linear mixed-effects model</a:t>
            </a:r>
            <a:endParaRPr lang="en-GB" b="1" noProof="0" dirty="0">
              <a:latin typeface="Aptos Light" panose="020B0004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5E0D7E7-83A5-E028-4AE6-7F4ED4743BAC}"/>
              </a:ext>
            </a:extLst>
          </p:cNvPr>
          <p:cNvSpPr txBox="1"/>
          <p:nvPr/>
        </p:nvSpPr>
        <p:spPr>
          <a:xfrm>
            <a:off x="965692" y="1011932"/>
            <a:ext cx="77885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noProof="0" dirty="0">
                <a:latin typeface="Aptos" panose="020B0004020202020204" pitchFamily="34" charset="0"/>
              </a:rPr>
              <a:t>Primary endpoint : ≥ 3 points differences on QIDS-SR at week 12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1F4809-FD3B-FEC6-B8E1-924AD98E6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74" y="2054805"/>
            <a:ext cx="11082679" cy="1458247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6215224-9B37-537B-9C18-CCA69B598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842171"/>
              </p:ext>
            </p:extLst>
          </p:nvPr>
        </p:nvGraphicFramePr>
        <p:xfrm>
          <a:off x="188210" y="3715606"/>
          <a:ext cx="5208249" cy="26568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839803">
                  <a:extLst>
                    <a:ext uri="{9D8B030D-6E8A-4147-A177-3AD203B41FA5}">
                      <a16:colId xmlns:a16="http://schemas.microsoft.com/office/drawing/2014/main" val="798115182"/>
                    </a:ext>
                  </a:extLst>
                </a:gridCol>
                <a:gridCol w="2368446">
                  <a:extLst>
                    <a:ext uri="{9D8B030D-6E8A-4147-A177-3AD203B41FA5}">
                      <a16:colId xmlns:a16="http://schemas.microsoft.com/office/drawing/2014/main" val="21911621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Fixed effects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Random effects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524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Treatment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Time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Treatment * Time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 err="1"/>
                        <a:t>Minimisation</a:t>
                      </a:r>
                      <a:r>
                        <a:rPr lang="en-US" dirty="0"/>
                        <a:t> variables : </a:t>
                      </a:r>
                    </a:p>
                    <a:p>
                      <a:pPr marL="742950" lvl="1" indent="-285750">
                        <a:buFontTx/>
                        <a:buChar char="-"/>
                      </a:pPr>
                      <a:r>
                        <a:rPr lang="en-US" dirty="0"/>
                        <a:t>Age group</a:t>
                      </a:r>
                    </a:p>
                    <a:p>
                      <a:pPr marL="742950" lvl="1" indent="-285750">
                        <a:buFontTx/>
                        <a:buChar char="-"/>
                      </a:pPr>
                      <a:r>
                        <a:rPr lang="en-US" dirty="0"/>
                        <a:t>Gender</a:t>
                      </a:r>
                    </a:p>
                    <a:p>
                      <a:pPr marL="742950" lvl="1" indent="-285750">
                        <a:buFontTx/>
                        <a:buChar char="-"/>
                      </a:pPr>
                      <a:r>
                        <a:rPr lang="en-US" dirty="0"/>
                        <a:t>Severity at baseline</a:t>
                      </a:r>
                    </a:p>
                    <a:p>
                      <a:pPr marL="742950" lvl="1" indent="-285750">
                        <a:buFontTx/>
                        <a:buChar char="-"/>
                      </a:pPr>
                      <a:r>
                        <a:rPr lang="en-US" dirty="0"/>
                        <a:t>QIDS at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Site random effect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Participant random intercept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74230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3936FFB-6E14-B419-C82D-15CA5D22F20D}"/>
              </a:ext>
            </a:extLst>
          </p:cNvPr>
          <p:cNvSpPr txBox="1"/>
          <p:nvPr/>
        </p:nvSpPr>
        <p:spPr>
          <a:xfrm>
            <a:off x="6095999" y="3716855"/>
            <a:ext cx="5528039" cy="1708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b="1" u="sng" dirty="0"/>
              <a:t>Interpretation</a:t>
            </a:r>
            <a:r>
              <a:rPr lang="en-US" dirty="0"/>
              <a:t> :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dirty="0" err="1"/>
              <a:t>Y</a:t>
            </a:r>
            <a:r>
              <a:rPr lang="en-US" baseline="-25000" dirty="0" err="1"/>
              <a:t>ij</a:t>
            </a:r>
            <a:r>
              <a:rPr lang="en-US" dirty="0"/>
              <a:t> : QIDS-SR16 score for participant </a:t>
            </a:r>
            <a:r>
              <a:rPr lang="en-US" dirty="0" err="1"/>
              <a:t>i</a:t>
            </a:r>
            <a:r>
              <a:rPr lang="en-US" dirty="0"/>
              <a:t> at timepoint j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dirty="0"/>
              <a:t>Treatment effect at week 12 is read from </a:t>
            </a:r>
            <a:r>
              <a:rPr lang="en-US" b="1" dirty="0"/>
              <a:t>treatment*time interaction at wk12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dirty="0"/>
              <a:t>Longitudinal model using all data</a:t>
            </a:r>
          </a:p>
        </p:txBody>
      </p:sp>
    </p:spTree>
    <p:extLst>
      <p:ext uri="{BB962C8B-B14F-4D97-AF65-F5344CB8AC3E}">
        <p14:creationId xmlns:p14="http://schemas.microsoft.com/office/powerpoint/2010/main" val="240740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8199F-5CF1-1ED5-980D-1D514395F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98D8CB3-A253-2860-7D4D-A8CB8C022969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Statistical analysis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BF13A4C-62DC-0519-D2C2-1748E154B639}"/>
              </a:ext>
            </a:extLst>
          </p:cNvPr>
          <p:cNvSpPr txBox="1"/>
          <p:nvPr/>
        </p:nvSpPr>
        <p:spPr>
          <a:xfrm>
            <a:off x="965692" y="1011932"/>
            <a:ext cx="77885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noProof="0" dirty="0">
                <a:latin typeface="Aptos" panose="020B0004020202020204" pitchFamily="34" charset="0"/>
              </a:rPr>
              <a:t>Other outcomes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942BD7-018B-9894-B0D5-620625F92A59}"/>
              </a:ext>
            </a:extLst>
          </p:cNvPr>
          <p:cNvSpPr/>
          <p:nvPr/>
        </p:nvSpPr>
        <p:spPr>
          <a:xfrm>
            <a:off x="167956" y="2139354"/>
            <a:ext cx="1480962" cy="9728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CONTI-NUOUS</a:t>
            </a:r>
            <a:endParaRPr lang="en-GB" sz="2400" b="1" noProof="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E06639-933C-B763-CD4E-63C4474E659E}"/>
              </a:ext>
            </a:extLst>
          </p:cNvPr>
          <p:cNvSpPr/>
          <p:nvPr/>
        </p:nvSpPr>
        <p:spPr>
          <a:xfrm>
            <a:off x="1648918" y="2139353"/>
            <a:ext cx="10058400" cy="972850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Reported as adjusted mean differences (obtained from mixed-effects model)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Analyzed</a:t>
            </a: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with mixed-effects linear regression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9A4D8C-DEDA-89A2-7A35-B3B990B992A0}"/>
              </a:ext>
            </a:extLst>
          </p:cNvPr>
          <p:cNvSpPr/>
          <p:nvPr/>
        </p:nvSpPr>
        <p:spPr>
          <a:xfrm>
            <a:off x="167956" y="3745798"/>
            <a:ext cx="1480962" cy="12896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BINARY</a:t>
            </a:r>
            <a:endParaRPr lang="en-GB" sz="2400" b="1" noProof="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09B9F0-1A1D-718B-9FAE-39BB69BC85BD}"/>
              </a:ext>
            </a:extLst>
          </p:cNvPr>
          <p:cNvSpPr/>
          <p:nvPr/>
        </p:nvSpPr>
        <p:spPr>
          <a:xfrm>
            <a:off x="1648917" y="3745797"/>
            <a:ext cx="10058399" cy="1289646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Reported as marginal relative risks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</a:rPr>
              <a:t>mixed-effects logistic regression</a:t>
            </a:r>
            <a:endParaRPr lang="en-GB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572C01-6B26-DBCE-11EC-860E34E0F0E9}"/>
              </a:ext>
            </a:extLst>
          </p:cNvPr>
          <p:cNvSpPr/>
          <p:nvPr/>
        </p:nvSpPr>
        <p:spPr>
          <a:xfrm>
            <a:off x="167955" y="5367234"/>
            <a:ext cx="1480962" cy="12896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COUNTS</a:t>
            </a:r>
          </a:p>
          <a:p>
            <a:pPr algn="ctr"/>
            <a:r>
              <a:rPr lang="en-GB" sz="2400" b="1" noProof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en-GB" sz="2400" b="1" noProof="0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adverses</a:t>
            </a:r>
            <a:r>
              <a:rPr lang="en-GB" sz="24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  <a:endParaRPr lang="en-GB" sz="2400" b="1" noProof="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194148-0074-7032-6CBF-6FBDBDA28917}"/>
              </a:ext>
            </a:extLst>
          </p:cNvPr>
          <p:cNvSpPr/>
          <p:nvPr/>
        </p:nvSpPr>
        <p:spPr>
          <a:xfrm>
            <a:off x="1648916" y="5367235"/>
            <a:ext cx="10058399" cy="1289646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Incidence rate ratio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Mixed-effects Poisson regression model with robust standard </a:t>
            </a:r>
            <a:r>
              <a:rPr lang="en-GB" sz="2000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erros</a:t>
            </a:r>
            <a:endParaRPr lang="en-GB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317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AFEA2-51FD-29AD-1614-C869B79FF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714728-8AE4-D923-19B2-74C7114D018E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5217B4-B059-D3E3-6D77-BD9CD42D0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38" y="990502"/>
            <a:ext cx="8649690" cy="450469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0CC4790-2ACF-3B54-23FB-A692BAADA02E}"/>
              </a:ext>
            </a:extLst>
          </p:cNvPr>
          <p:cNvSpPr/>
          <p:nvPr/>
        </p:nvSpPr>
        <p:spPr>
          <a:xfrm>
            <a:off x="2520413" y="5695472"/>
            <a:ext cx="4175662" cy="977925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GB" sz="20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≈ 40 patients per group at week 48</a:t>
            </a:r>
            <a:endParaRPr lang="en-GB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20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A2791-59A8-6D64-2CA5-C7D31902E2BD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Results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034073-CA30-EFF1-0A2D-52B9AD2BDB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8086"/>
          <a:stretch>
            <a:fillRect/>
          </a:stretch>
        </p:blipFill>
        <p:spPr>
          <a:xfrm>
            <a:off x="260765" y="1030470"/>
            <a:ext cx="11787319" cy="195403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F2FB67-AC78-2AEF-569E-9C62DFCE9302}"/>
              </a:ext>
            </a:extLst>
          </p:cNvPr>
          <p:cNvSpPr/>
          <p:nvPr/>
        </p:nvSpPr>
        <p:spPr>
          <a:xfrm>
            <a:off x="1066800" y="4051275"/>
            <a:ext cx="10058400" cy="1954030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20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Primary outcome : changes at week 12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Crude : -6,4 in QIDS-SR scale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 err="1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Ajusted</a:t>
            </a: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: -3,91 in QIDS-SR scale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SMD : -0,87 (= Cohen’s d)</a:t>
            </a:r>
          </a:p>
        </p:txBody>
      </p:sp>
    </p:spTree>
    <p:extLst>
      <p:ext uri="{BB962C8B-B14F-4D97-AF65-F5344CB8AC3E}">
        <p14:creationId xmlns:p14="http://schemas.microsoft.com/office/powerpoint/2010/main" val="2219720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4A72F-30A3-2A14-7B91-D61971B5B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99A3EE-0920-A9AD-C50B-E92E67C78244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04BA38-92C2-10BF-4F45-418F98F6E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60" y="1325245"/>
            <a:ext cx="6303266" cy="420751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DCA307C-D44B-B363-376B-1D6DF37EDED0}"/>
              </a:ext>
            </a:extLst>
          </p:cNvPr>
          <p:cNvSpPr/>
          <p:nvPr/>
        </p:nvSpPr>
        <p:spPr>
          <a:xfrm>
            <a:off x="7467600" y="2451075"/>
            <a:ext cx="2110740" cy="977925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20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Stable during time</a:t>
            </a:r>
            <a:endParaRPr lang="en-GB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950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CE574-9887-DB52-AE0F-BE8EF2356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9F94F6-16E2-A1BA-35D0-B2F62736CCC9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Results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550880-CA6B-2727-7A0A-31AE7906D26F}"/>
              </a:ext>
            </a:extLst>
          </p:cNvPr>
          <p:cNvSpPr/>
          <p:nvPr/>
        </p:nvSpPr>
        <p:spPr>
          <a:xfrm>
            <a:off x="2397825" y="3511538"/>
            <a:ext cx="6477000" cy="977925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GB" sz="20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No differences in whole adverse events</a:t>
            </a:r>
            <a:endParaRPr lang="en-GB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8F3812-BC50-29FD-FD03-8DDBDD1F2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20" y="1036448"/>
            <a:ext cx="9936610" cy="182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473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A5FD3-1C08-4797-5946-CC8A67B2C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DFB50E-F28F-8E26-BC8E-FB0DCAAF0057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C40D58-C738-01F1-9743-B07B6FD8A8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7768"/>
          <a:stretch>
            <a:fillRect/>
          </a:stretch>
        </p:blipFill>
        <p:spPr>
          <a:xfrm>
            <a:off x="300471" y="1047028"/>
            <a:ext cx="7086600" cy="4349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1D2F5B-57B7-5AF4-534B-6B275EC8BF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676" b="584"/>
          <a:stretch>
            <a:fillRect/>
          </a:stretch>
        </p:blipFill>
        <p:spPr>
          <a:xfrm>
            <a:off x="300471" y="1482004"/>
            <a:ext cx="7086600" cy="112871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FAA9D19-9A5D-BDE7-D028-F9CBCEBC1BF7}"/>
              </a:ext>
            </a:extLst>
          </p:cNvPr>
          <p:cNvSpPr/>
          <p:nvPr/>
        </p:nvSpPr>
        <p:spPr>
          <a:xfrm>
            <a:off x="2397825" y="3511538"/>
            <a:ext cx="6477000" cy="977925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GB" sz="20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But specific effects : nausea, headache, dizziness</a:t>
            </a:r>
            <a:endParaRPr lang="en-GB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720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54449-140D-AD26-AAB5-1D41E9DC3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19B8BB-7609-AF15-955D-73B6A7A29EFA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Results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D4C5CD-C08C-3F08-D610-E1C257CE16F9}"/>
              </a:ext>
            </a:extLst>
          </p:cNvPr>
          <p:cNvSpPr/>
          <p:nvPr/>
        </p:nvSpPr>
        <p:spPr>
          <a:xfrm>
            <a:off x="2397825" y="3511538"/>
            <a:ext cx="6477000" cy="977925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GB" sz="2000" b="1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Leading to ≈ 75% of participants guessing their treatment</a:t>
            </a:r>
            <a:endParaRPr lang="en-GB" sz="2000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B77923-FA29-6CA7-136D-EA620F920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25" y="1245937"/>
            <a:ext cx="5439610" cy="167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281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86C93-A420-70E4-A833-C258223A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090934-6F9F-4507-3DA8-D22F43558E7D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Discussion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C2CCB9-8747-D4E3-90FC-6BE71BD01E75}"/>
              </a:ext>
            </a:extLst>
          </p:cNvPr>
          <p:cNvSpPr/>
          <p:nvPr/>
        </p:nvSpPr>
        <p:spPr>
          <a:xfrm>
            <a:off x="739588" y="1425388"/>
            <a:ext cx="4921624" cy="4679577"/>
          </a:xfrm>
          <a:prstGeom prst="rect">
            <a:avLst/>
          </a:prstGeom>
          <a:solidFill>
            <a:srgbClr val="0DA1DE">
              <a:alpha val="1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noProof="0" dirty="0">
                <a:solidFill>
                  <a:schemeClr val="tx1"/>
                </a:solidFill>
              </a:rPr>
              <a:t>Strengths of the trial:</a:t>
            </a:r>
          </a:p>
          <a:p>
            <a:pPr algn="ctr"/>
            <a:endParaRPr lang="en-GB" sz="2000" noProof="0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en-GB" sz="2000" noProof="0" dirty="0">
                <a:solidFill>
                  <a:schemeClr val="tx1"/>
                </a:solidFill>
                <a:latin typeface="Aptos Light" panose="020B0004020202020204" pitchFamily="34" charset="0"/>
              </a:rPr>
              <a:t>Design : multicentre, </a:t>
            </a:r>
            <a:r>
              <a:rPr lang="en-GB" sz="2000" noProof="0" dirty="0" err="1">
                <a:solidFill>
                  <a:schemeClr val="tx1"/>
                </a:solidFill>
                <a:latin typeface="Aptos Light" panose="020B0004020202020204" pitchFamily="34" charset="0"/>
              </a:rPr>
              <a:t>doubl</a:t>
            </a:r>
            <a:r>
              <a:rPr lang="en-GB" sz="2000" dirty="0">
                <a:solidFill>
                  <a:schemeClr val="tx1"/>
                </a:solidFill>
                <a:latin typeface="Aptos Light" panose="020B0004020202020204" pitchFamily="34" charset="0"/>
              </a:rPr>
              <a:t>e blind, placebo</a:t>
            </a:r>
          </a:p>
          <a:p>
            <a:pPr marL="342900" indent="-342900"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Aptos Light" panose="020B0004020202020204" pitchFamily="34" charset="0"/>
              </a:rPr>
              <a:t>Central randomisation with minimisation</a:t>
            </a:r>
          </a:p>
          <a:p>
            <a:pPr marL="342900" indent="-342900">
              <a:buFontTx/>
              <a:buChar char="-"/>
            </a:pPr>
            <a:r>
              <a:rPr lang="en-GB" sz="2000" noProof="0" dirty="0">
                <a:solidFill>
                  <a:schemeClr val="tx1"/>
                </a:solidFill>
                <a:latin typeface="Aptos Light" panose="020B0004020202020204" pitchFamily="34" charset="0"/>
              </a:rPr>
              <a:t>Clinically </a:t>
            </a:r>
            <a:r>
              <a:rPr lang="en-GB" sz="2000" noProof="0" dirty="0" err="1">
                <a:solidFill>
                  <a:schemeClr val="tx1"/>
                </a:solidFill>
                <a:latin typeface="Aptos Light" panose="020B0004020202020204" pitchFamily="34" charset="0"/>
              </a:rPr>
              <a:t>revelant</a:t>
            </a:r>
            <a:r>
              <a:rPr lang="en-GB" sz="2000" noProof="0" dirty="0">
                <a:solidFill>
                  <a:schemeClr val="tx1"/>
                </a:solidFill>
                <a:latin typeface="Aptos Light" panose="020B0004020202020204" pitchFamily="34" charset="0"/>
              </a:rPr>
              <a:t> population</a:t>
            </a:r>
          </a:p>
          <a:p>
            <a:pPr marL="342900" indent="-342900">
              <a:buFontTx/>
              <a:buChar char="-"/>
            </a:pPr>
            <a:r>
              <a:rPr lang="en-GB" sz="2000" noProof="0" dirty="0">
                <a:solidFill>
                  <a:schemeClr val="tx1"/>
                </a:solidFill>
                <a:latin typeface="Aptos Light" panose="020B0004020202020204" pitchFamily="34" charset="0"/>
              </a:rPr>
              <a:t>Follow up to 48 weeks</a:t>
            </a:r>
            <a:endParaRPr lang="en-GB" sz="2000" noProof="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949072-C05F-4DE9-4DDE-DB5633DA6429}"/>
              </a:ext>
            </a:extLst>
          </p:cNvPr>
          <p:cNvSpPr/>
          <p:nvPr/>
        </p:nvSpPr>
        <p:spPr>
          <a:xfrm>
            <a:off x="6096000" y="1425388"/>
            <a:ext cx="5199529" cy="4679577"/>
          </a:xfrm>
          <a:prstGeom prst="rect">
            <a:avLst/>
          </a:prstGeom>
          <a:solidFill>
            <a:srgbClr val="C00000">
              <a:alpha val="1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noProof="0" dirty="0">
                <a:solidFill>
                  <a:schemeClr val="tx1"/>
                </a:solidFill>
              </a:rPr>
              <a:t>Key limitations of the trial:</a:t>
            </a:r>
            <a:endParaRPr lang="en-GB" sz="1400" dirty="0">
              <a:solidFill>
                <a:schemeClr val="tx1"/>
              </a:solidFill>
              <a:latin typeface="Aptos Light" panose="020B0004020202020204" pitchFamily="34" charset="0"/>
            </a:endParaRPr>
          </a:p>
          <a:p>
            <a:endParaRPr lang="en-GB" sz="2000" dirty="0">
              <a:solidFill>
                <a:schemeClr val="tx1"/>
              </a:solidFill>
              <a:latin typeface="Aptos Light" panose="020B00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GB" sz="2000" noProof="0" dirty="0">
                <a:solidFill>
                  <a:schemeClr val="tx1"/>
                </a:solidFill>
                <a:latin typeface="Aptos Light" panose="020B0004020202020204" pitchFamily="34" charset="0"/>
              </a:rPr>
              <a:t>Self-rated </a:t>
            </a:r>
            <a:r>
              <a:rPr lang="en-GB" sz="2000" noProof="0" dirty="0" err="1">
                <a:solidFill>
                  <a:schemeClr val="tx1"/>
                </a:solidFill>
                <a:latin typeface="Aptos Light" panose="020B0004020202020204" pitchFamily="34" charset="0"/>
              </a:rPr>
              <a:t>primar</a:t>
            </a:r>
            <a:r>
              <a:rPr lang="en-GB" sz="2000" dirty="0">
                <a:solidFill>
                  <a:schemeClr val="tx1"/>
                </a:solidFill>
                <a:latin typeface="Aptos Light" panose="020B0004020202020204" pitchFamily="34" charset="0"/>
              </a:rPr>
              <a:t>y outcome (expectancy bias)</a:t>
            </a:r>
          </a:p>
          <a:p>
            <a:pPr marL="342900" indent="-342900"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Aptos Light" panose="020B0004020202020204" pitchFamily="34" charset="0"/>
              </a:rPr>
              <a:t>Frequent functional unblinding</a:t>
            </a:r>
          </a:p>
          <a:p>
            <a:pPr marL="342900" indent="-342900"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Aptos Light" panose="020B0004020202020204" pitchFamily="34" charset="0"/>
              </a:rPr>
              <a:t>Moderate sample size</a:t>
            </a:r>
          </a:p>
          <a:p>
            <a:pPr marL="342900" indent="-342900">
              <a:buFontTx/>
              <a:buChar char="-"/>
            </a:pPr>
            <a:r>
              <a:rPr lang="en-GB" sz="2000" dirty="0">
                <a:solidFill>
                  <a:schemeClr val="tx1"/>
                </a:solidFill>
                <a:latin typeface="Aptos Light" panose="020B0004020202020204" pitchFamily="34" charset="0"/>
              </a:rPr>
              <a:t>Missing </a:t>
            </a:r>
            <a:r>
              <a:rPr lang="en-GB" sz="2000" dirty="0" err="1">
                <a:solidFill>
                  <a:schemeClr val="tx1"/>
                </a:solidFill>
                <a:latin typeface="Aptos Light" panose="020B0004020202020204" pitchFamily="34" charset="0"/>
              </a:rPr>
              <a:t>datas</a:t>
            </a:r>
            <a:r>
              <a:rPr lang="en-GB" sz="2000" dirty="0">
                <a:solidFill>
                  <a:schemeClr val="tx1"/>
                </a:solidFill>
                <a:latin typeface="Aptos Light" panose="020B0004020202020204" pitchFamily="34" charset="0"/>
              </a:rPr>
              <a:t> for </a:t>
            </a:r>
            <a:r>
              <a:rPr lang="en-GB" sz="2000">
                <a:solidFill>
                  <a:schemeClr val="tx1"/>
                </a:solidFill>
                <a:latin typeface="Aptos Light" panose="020B0004020202020204" pitchFamily="34" charset="0"/>
              </a:rPr>
              <a:t>48 weeks</a:t>
            </a:r>
            <a:endParaRPr lang="en-GB" sz="1400" noProof="0" dirty="0">
              <a:solidFill>
                <a:schemeClr val="tx1"/>
              </a:solidFill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1099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B719B-6966-121E-1058-D3F103F78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B83295-504E-55FB-9ED1-F0B9C0DFF803}"/>
              </a:ext>
            </a:extLst>
          </p:cNvPr>
          <p:cNvSpPr/>
          <p:nvPr/>
        </p:nvSpPr>
        <p:spPr>
          <a:xfrm>
            <a:off x="0" y="0"/>
            <a:ext cx="12192000" cy="7902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sz="2800" noProof="0" dirty="0"/>
              <a:t>Conclusion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C589F7-6EEF-BAA2-A982-68F7A1AFEE0F}"/>
              </a:ext>
            </a:extLst>
          </p:cNvPr>
          <p:cNvSpPr/>
          <p:nvPr/>
        </p:nvSpPr>
        <p:spPr>
          <a:xfrm>
            <a:off x="643455" y="2450933"/>
            <a:ext cx="10905089" cy="2649071"/>
          </a:xfrm>
          <a:prstGeom prst="rect">
            <a:avLst/>
          </a:prstGeom>
          <a:solidFill>
            <a:srgbClr val="FFE7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noProof="0" dirty="0">
                <a:solidFill>
                  <a:schemeClr val="tx1"/>
                </a:solidFill>
              </a:rPr>
              <a:t>ION224-mediated DGAT2 inhibition leads to histological improvements, MASH resolution, and time-dependent reduction in hepatic steatosis, with a </a:t>
            </a:r>
            <a:r>
              <a:rPr lang="en-GB" sz="2400" noProof="0" dirty="0" err="1">
                <a:solidFill>
                  <a:schemeClr val="tx1"/>
                </a:solidFill>
              </a:rPr>
              <a:t>favorable</a:t>
            </a:r>
            <a:r>
              <a:rPr lang="en-GB" sz="2400" noProof="0" dirty="0">
                <a:solidFill>
                  <a:schemeClr val="tx1"/>
                </a:solidFill>
              </a:rPr>
              <a:t> safety profile.</a:t>
            </a:r>
            <a:endParaRPr lang="en-GB" sz="2400" noProof="0" dirty="0">
              <a:solidFill>
                <a:schemeClr val="tx1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79004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6275</TotalTime>
  <Words>1617</Words>
  <Application>Microsoft Macintosh PowerPoint</Application>
  <PresentationFormat>Widescreen</PresentationFormat>
  <Paragraphs>319</Paragraphs>
  <Slides>22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Aptos Light</vt:lpstr>
      <vt:lpstr>Arial</vt:lpstr>
      <vt:lpstr>Calibri Light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Alix DHOTE</dc:creator>
  <cp:lastModifiedBy>Thomas Husson</cp:lastModifiedBy>
  <cp:revision>33</cp:revision>
  <dcterms:created xsi:type="dcterms:W3CDTF">2025-11-25T10:29:56Z</dcterms:created>
  <dcterms:modified xsi:type="dcterms:W3CDTF">2026-03-11T15:14:01Z</dcterms:modified>
</cp:coreProperties>
</file>