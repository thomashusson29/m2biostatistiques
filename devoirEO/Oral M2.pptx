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DA1DE"/>
    <a:srgbClr val="FFE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8"/>
    <p:restoredTop sz="94568"/>
  </p:normalViewPr>
  <p:slideViewPr>
    <p:cSldViewPr snapToGrid="0">
      <p:cViewPr varScale="1">
        <p:scale>
          <a:sx n="146" d="100"/>
          <a:sy n="146" d="100"/>
        </p:scale>
        <p:origin x="5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49DFF-A74C-5B56-4B15-067F26381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E8EBAAD-025E-71A3-041B-33217793B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0E4A73-9C00-BA1B-60EA-A8B83931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8EFB41-A6ED-CD3D-D44C-42C7D890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89E0FC-C4C5-B685-A826-CA5ED776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5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FB289-0C12-6DE0-E893-C8C99B9F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E053A0-F86B-231A-6B90-34B749F01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5B664D-7B01-208B-E3A0-6AA8150F1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241A4B-15F8-E836-B99E-A4D9CC5E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253AD2-6CE3-1723-CB0D-7DCF3957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40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6204D-45C5-FD0D-259C-8770897A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A6053B-06E7-41B2-152E-C6B227965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86AB4E-F682-9009-18D2-74B8A978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B0A0AA-2A29-D5AE-3B11-BD480832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91FC9B-F508-37BF-5C67-F5DA565C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5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78274D-D2CB-83B6-8A6A-12F3FD63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E0E98A-CB9E-6EE2-753A-660D506CC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2430AC-6C1E-8984-B4BB-532485F3C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619A91-6A7C-BB36-794B-2C3DCC16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903753-A56B-D3DB-8202-3CE81594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2EA1E5-D9D4-7BBF-7CE8-63FD88A0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16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9A580-08F8-D4F2-E300-0051071F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D734F5-779F-C8DB-30C8-00F1C2DAB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120E01-0C4C-25FB-7834-D7CBC92AA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CD605D-EFB2-EAA1-F59D-C4D197ED0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12C7590-6BAC-F720-7BC8-892BF1FC7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BF611E-0D11-2BDC-F249-D82621D4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2408A3A-ACD4-B997-B520-49971326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C049A67-8CDE-6C07-83AA-AEB2AA82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83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17429D-FB0E-4C0B-E7BC-85ECE236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E73E5C-7F07-3CB3-B916-DEAAF239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748154-DB26-EE96-49B0-771D2883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EFE7F8-C955-3504-EAAE-9B5ACB82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07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C727E83-5913-B709-A847-64E99D66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ECB920-8560-74FA-FFF9-EB483C0C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1AF1F5-93F7-970A-27E8-2CE91ED8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56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3118A4-23EA-0DD9-D860-B5B3D0A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F0A66D-3EE3-314D-3B7C-890B66DD8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9F5633-44D7-8913-FB21-8393C6CF8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A0356DC-808B-23CB-4668-8C37E69B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D51528-5732-0F79-B95F-67133442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C19FBE-A5EB-D452-A9EE-C3BFCD43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01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56A93-82A0-CC9E-021C-07B698D2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C36D769-B65B-19E0-AB8D-FDECA04FC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633A74-3421-C377-DEC2-75814F6DA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67C2BA-D53D-8F2A-97A8-01651475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343EE1-82D7-F748-6AB5-4145F2BD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CE5453-49A8-F412-8740-9F327922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60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63F4F-9266-E487-78FE-152D93999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B8AC651-8952-EA7E-5B65-C657B42DE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196649-CA95-DE8F-3D08-209A9D48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E3ADFD-5A00-80CF-6697-CD1141ED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6CA72F-41F1-EDEF-8689-ED33AA7C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44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9BEF598-ED60-A3B4-1FE4-9DB12ED63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7EDA8F-8F33-61DE-5513-69CD3D107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A1AA5F-5DA2-4C62-7F8D-AD79D665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6CC156-44E6-ED6F-D59C-802CC276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1B4D6-848A-555F-7911-3464C00B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643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A78B23-FBEF-FB11-3A5E-653EBEE05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EE5C22-B432-A09A-0DDC-1BBBFD34F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3C716F-9619-8F91-9318-66AB6E0AE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E3A0E-D46B-254D-A06D-4D8372B2C9E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FCA1CF-F260-B26B-C9D0-AE647B28D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28AFA1-8AEA-3F92-1E87-C856F22B5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92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C4E1B8C-19BF-B9E8-6B3B-DADACB2EF8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Oral </a:t>
            </a:r>
            <a:r>
              <a:rPr lang="fr-FR" sz="3600" dirty="0" err="1"/>
              <a:t>presentation</a:t>
            </a:r>
            <a:endParaRPr lang="fr-FR" sz="3600" dirty="0"/>
          </a:p>
          <a:p>
            <a:r>
              <a:rPr lang="fr-FR" sz="3600" dirty="0" err="1"/>
              <a:t>December</a:t>
            </a:r>
            <a:r>
              <a:rPr lang="fr-FR" sz="3600" dirty="0"/>
              <a:t> 12, 2025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D8BB6B5-760C-400B-6A0F-71DBD888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" y="662000"/>
            <a:ext cx="10402412" cy="25939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6AA3580-0194-A3DA-EA4A-2CD9F761B008}"/>
              </a:ext>
            </a:extLst>
          </p:cNvPr>
          <p:cNvSpPr/>
          <p:nvPr/>
        </p:nvSpPr>
        <p:spPr>
          <a:xfrm>
            <a:off x="0" y="5712178"/>
            <a:ext cx="12192000" cy="114582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80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C3B4FF-552F-D4B8-9A76-E75079D1E8DF}"/>
              </a:ext>
            </a:extLst>
          </p:cNvPr>
          <p:cNvSpPr/>
          <p:nvPr/>
        </p:nvSpPr>
        <p:spPr>
          <a:xfrm>
            <a:off x="651973" y="1765550"/>
            <a:ext cx="10888052" cy="1153717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i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98D66C-1689-7CE8-EB4D-A2CD81DF6C9E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/>
              <a:t>Introduction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425F9CD-1F4F-7BD9-9292-D7FD3B8F28B0}"/>
              </a:ext>
            </a:extLst>
          </p:cNvPr>
          <p:cNvSpPr txBox="1"/>
          <p:nvPr/>
        </p:nvSpPr>
        <p:spPr>
          <a:xfrm>
            <a:off x="932480" y="1891559"/>
            <a:ext cx="1032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ptos Light" panose="020B0004020202020204" pitchFamily="34" charset="0"/>
              </a:rPr>
              <a:t>Lancet (IF 88,5), </a:t>
            </a:r>
            <a:r>
              <a:rPr lang="fr-FR" sz="2000" dirty="0">
                <a:effectLst/>
                <a:latin typeface="Aptos Light" panose="020B0004020202020204" pitchFamily="34" charset="0"/>
              </a:rPr>
              <a:t>August 23, 2025</a:t>
            </a:r>
          </a:p>
          <a:p>
            <a:r>
              <a:rPr lang="fr-FR" sz="2000" dirty="0">
                <a:latin typeface="Aptos Light" panose="020B0004020202020204" pitchFamily="34" charset="0"/>
              </a:rPr>
              <a:t>Phase 2 adaptative multicentre </a:t>
            </a:r>
            <a:r>
              <a:rPr lang="fr-FR" sz="2000" dirty="0" err="1">
                <a:latin typeface="Aptos Light" panose="020B0004020202020204" pitchFamily="34" charset="0"/>
              </a:rPr>
              <a:t>randomised</a:t>
            </a:r>
            <a:r>
              <a:rPr lang="fr-FR" sz="2000" dirty="0">
                <a:latin typeface="Aptos Light" panose="020B0004020202020204" pitchFamily="34" charset="0"/>
              </a:rPr>
              <a:t> control trial (</a:t>
            </a:r>
            <a:r>
              <a:rPr lang="fr-FR" sz="2000" dirty="0" err="1">
                <a:latin typeface="Aptos Light" panose="020B0004020202020204" pitchFamily="34" charset="0"/>
              </a:rPr>
              <a:t>Level</a:t>
            </a:r>
            <a:r>
              <a:rPr lang="fr-FR" sz="2000" dirty="0">
                <a:latin typeface="Aptos Light" panose="020B0004020202020204" pitchFamily="34" charset="0"/>
              </a:rPr>
              <a:t> of </a:t>
            </a:r>
            <a:r>
              <a:rPr lang="fr-FR" sz="2000" dirty="0" err="1">
                <a:latin typeface="Aptos Light" panose="020B0004020202020204" pitchFamily="34" charset="0"/>
              </a:rPr>
              <a:t>evidence</a:t>
            </a:r>
            <a:r>
              <a:rPr lang="fr-FR" sz="2000" dirty="0">
                <a:latin typeface="Aptos Light" panose="020B0004020202020204" pitchFamily="34" charset="0"/>
              </a:rPr>
              <a:t> B), double-blind</a:t>
            </a:r>
          </a:p>
          <a:p>
            <a:r>
              <a:rPr lang="fr-FR" sz="2000" dirty="0">
                <a:latin typeface="Aptos Light" panose="020B0004020202020204" pitchFamily="34" charset="0"/>
              </a:rPr>
              <a:t>43 centers</a:t>
            </a:r>
            <a:endParaRPr lang="fr-FR" sz="2000" dirty="0">
              <a:effectLst/>
              <a:latin typeface="Aptos Light" panose="020B0004020202020204" pitchFamily="34" charset="0"/>
            </a:endParaRPr>
          </a:p>
          <a:p>
            <a:endParaRPr lang="fr-FR" sz="2000" dirty="0">
              <a:latin typeface="Aptos Light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8F37FD-2B00-B020-5BF4-987FA05C455B}"/>
              </a:ext>
            </a:extLst>
          </p:cNvPr>
          <p:cNvSpPr/>
          <p:nvPr/>
        </p:nvSpPr>
        <p:spPr>
          <a:xfrm>
            <a:off x="651973" y="3232654"/>
            <a:ext cx="10888052" cy="2397498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i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F281EBE-5208-D59C-B1AD-E2425F32F3A3}"/>
              </a:ext>
            </a:extLst>
          </p:cNvPr>
          <p:cNvSpPr txBox="1"/>
          <p:nvPr/>
        </p:nvSpPr>
        <p:spPr>
          <a:xfrm>
            <a:off x="932480" y="3267965"/>
            <a:ext cx="103270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ptos" panose="020B0004020202020204" pitchFamily="34" charset="0"/>
              </a:rPr>
              <a:t>Population</a:t>
            </a:r>
            <a:r>
              <a:rPr lang="fr-FR" sz="2000" dirty="0">
                <a:latin typeface="Aptos Light" panose="020B0004020202020204" pitchFamily="34" charset="0"/>
              </a:rPr>
              <a:t> : </a:t>
            </a:r>
            <a:r>
              <a:rPr lang="fr-FR" sz="2000" dirty="0" err="1">
                <a:latin typeface="Aptos Light" panose="020B0004020202020204" pitchFamily="34" charset="0"/>
              </a:rPr>
              <a:t>adults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with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Metabolic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dysfunction-associated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steatohepatitis</a:t>
            </a:r>
            <a:r>
              <a:rPr lang="fr-FR" sz="2000" dirty="0">
                <a:latin typeface="Aptos Light" panose="020B0004020202020204" pitchFamily="34" charset="0"/>
              </a:rPr>
              <a:t> (MASH) and </a:t>
            </a:r>
            <a:r>
              <a:rPr lang="fr-FR" sz="2000" dirty="0" err="1">
                <a:latin typeface="Aptos Light" panose="020B0004020202020204" pitchFamily="34" charset="0"/>
              </a:rPr>
              <a:t>fibrosis</a:t>
            </a:r>
            <a:r>
              <a:rPr lang="fr-FR" sz="2000" dirty="0">
                <a:latin typeface="Aptos Light" panose="020B0004020202020204" pitchFamily="34" charset="0"/>
              </a:rPr>
              <a:t>, </a:t>
            </a:r>
            <a:r>
              <a:rPr lang="fr-FR" sz="2000" dirty="0" err="1">
                <a:latin typeface="Aptos Light" panose="020B0004020202020204" pitchFamily="34" charset="0"/>
              </a:rPr>
              <a:t>with</a:t>
            </a:r>
            <a:r>
              <a:rPr lang="fr-FR" sz="2000" dirty="0">
                <a:latin typeface="Aptos Light" panose="020B0004020202020204" pitchFamily="34" charset="0"/>
              </a:rPr>
              <a:t>  </a:t>
            </a:r>
            <a:r>
              <a:rPr lang="fr-FR" sz="2000" dirty="0" err="1">
                <a:latin typeface="Aptos Light" panose="020B0004020202020204" pitchFamily="34" charset="0"/>
              </a:rPr>
              <a:t>steatosis</a:t>
            </a:r>
            <a:r>
              <a:rPr lang="fr-FR" sz="2000" dirty="0">
                <a:latin typeface="Aptos Light" panose="020B0004020202020204" pitchFamily="34" charset="0"/>
              </a:rPr>
              <a:t> ≥10% </a:t>
            </a:r>
          </a:p>
          <a:p>
            <a:endParaRPr lang="fr-FR" sz="2000" dirty="0">
              <a:latin typeface="Aptos Light" panose="020B0004020202020204" pitchFamily="34" charset="0"/>
            </a:endParaRPr>
          </a:p>
          <a:p>
            <a:r>
              <a:rPr lang="fr-FR" sz="2000" dirty="0" err="1">
                <a:latin typeface="Aptos" panose="020B0004020202020204" pitchFamily="34" charset="0"/>
              </a:rPr>
              <a:t>Investigational</a:t>
            </a:r>
            <a:r>
              <a:rPr lang="fr-FR" sz="2000" dirty="0">
                <a:latin typeface="Aptos" panose="020B0004020202020204" pitchFamily="34" charset="0"/>
              </a:rPr>
              <a:t> </a:t>
            </a:r>
            <a:r>
              <a:rPr lang="fr-FR" sz="2000" dirty="0" err="1">
                <a:latin typeface="Aptos" panose="020B0004020202020204" pitchFamily="34" charset="0"/>
              </a:rPr>
              <a:t>drug</a:t>
            </a:r>
            <a:r>
              <a:rPr lang="fr-FR" sz="2000" dirty="0">
                <a:latin typeface="Aptos Light" panose="020B0004020202020204" pitchFamily="34" charset="0"/>
              </a:rPr>
              <a:t> : ION224, </a:t>
            </a:r>
            <a:r>
              <a:rPr lang="fr-FR" sz="2000" dirty="0" err="1">
                <a:latin typeface="Aptos Light" panose="020B0004020202020204" pitchFamily="34" charset="0"/>
              </a:rPr>
              <a:t>liver-directed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antisense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inhibitor</a:t>
            </a:r>
            <a:r>
              <a:rPr lang="fr-FR" sz="2000" dirty="0">
                <a:latin typeface="Aptos Light" panose="020B0004020202020204" pitchFamily="34" charset="0"/>
              </a:rPr>
              <a:t> of </a:t>
            </a:r>
            <a:r>
              <a:rPr lang="fr-FR" sz="2000" dirty="0" err="1">
                <a:latin typeface="Aptos Light" panose="020B0004020202020204" pitchFamily="34" charset="0"/>
              </a:rPr>
              <a:t>diacylglycerol</a:t>
            </a:r>
            <a:r>
              <a:rPr lang="fr-FR" sz="2000" dirty="0">
                <a:latin typeface="Aptos Light" panose="020B0004020202020204" pitchFamily="34" charset="0"/>
              </a:rPr>
              <a:t> O-</a:t>
            </a:r>
            <a:r>
              <a:rPr lang="fr-FR" sz="2000" dirty="0" err="1">
                <a:latin typeface="Aptos Light" panose="020B0004020202020204" pitchFamily="34" charset="0"/>
              </a:rPr>
              <a:t>acyltransferase</a:t>
            </a:r>
            <a:r>
              <a:rPr lang="fr-FR" sz="2000" dirty="0">
                <a:latin typeface="Aptos Light" panose="020B0004020202020204" pitchFamily="34" charset="0"/>
              </a:rPr>
              <a:t> 2 (DGAT2)</a:t>
            </a:r>
          </a:p>
          <a:p>
            <a:endParaRPr lang="fr-FR" sz="2000" dirty="0">
              <a:latin typeface="Aptos Light" panose="020B0004020202020204" pitchFamily="34" charset="0"/>
            </a:endParaRPr>
          </a:p>
          <a:p>
            <a:r>
              <a:rPr lang="fr-FR" sz="2000" dirty="0">
                <a:latin typeface="Aptos" panose="020B0004020202020204" pitchFamily="34" charset="0"/>
              </a:rPr>
              <a:t>Aim of the </a:t>
            </a:r>
            <a:r>
              <a:rPr lang="fr-FR" sz="2000" dirty="0" err="1">
                <a:latin typeface="Aptos" panose="020B0004020202020204" pitchFamily="34" charset="0"/>
              </a:rPr>
              <a:t>study</a:t>
            </a:r>
            <a:r>
              <a:rPr lang="fr-FR" sz="2000" dirty="0">
                <a:latin typeface="Aptos" panose="020B0004020202020204" pitchFamily="34" charset="0"/>
              </a:rPr>
              <a:t> : </a:t>
            </a:r>
            <a:r>
              <a:rPr lang="fr-FR" sz="2000" dirty="0" err="1">
                <a:effectLst/>
                <a:latin typeface="Aptos" panose="020B0004020202020204" pitchFamily="34" charset="0"/>
              </a:rPr>
              <a:t>safety</a:t>
            </a:r>
            <a:r>
              <a:rPr lang="fr-FR" sz="2000" dirty="0">
                <a:effectLst/>
                <a:latin typeface="Aptos" panose="020B0004020202020204" pitchFamily="34" charset="0"/>
              </a:rPr>
              <a:t> and </a:t>
            </a:r>
            <a:r>
              <a:rPr lang="fr-FR" sz="2000" dirty="0" err="1">
                <a:effectLst/>
                <a:latin typeface="Aptos" panose="020B0004020202020204" pitchFamily="34" charset="0"/>
              </a:rPr>
              <a:t>efficacy</a:t>
            </a:r>
            <a:r>
              <a:rPr lang="fr-FR" sz="2000" dirty="0">
                <a:effectLst/>
                <a:latin typeface="Aptos" panose="020B0004020202020204" pitchFamily="34" charset="0"/>
              </a:rPr>
              <a:t> of ION224 for MASH and </a:t>
            </a:r>
            <a:r>
              <a:rPr lang="fr-FR" sz="2000" dirty="0" err="1">
                <a:effectLst/>
                <a:latin typeface="Aptos" panose="020B0004020202020204" pitchFamily="34" charset="0"/>
              </a:rPr>
              <a:t>fibrosis</a:t>
            </a:r>
            <a:endParaRPr lang="fr-FR" sz="2000" dirty="0">
              <a:effectLst/>
              <a:latin typeface="Aptos" panose="020B0004020202020204" pitchFamily="34" charset="0"/>
            </a:endParaRPr>
          </a:p>
          <a:p>
            <a:endParaRPr lang="fr-FR" sz="2000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126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177DAF2C-B2BB-C73A-0588-A84539C6A483}"/>
              </a:ext>
            </a:extLst>
          </p:cNvPr>
          <p:cNvCxnSpPr>
            <a:cxnSpLocks/>
          </p:cNvCxnSpPr>
          <p:nvPr/>
        </p:nvCxnSpPr>
        <p:spPr>
          <a:xfrm flipV="1">
            <a:off x="8445458" y="3683056"/>
            <a:ext cx="631896" cy="47211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BDF6A032-A81F-E689-772C-8C5A38ADAB19}"/>
              </a:ext>
            </a:extLst>
          </p:cNvPr>
          <p:cNvCxnSpPr>
            <a:cxnSpLocks/>
          </p:cNvCxnSpPr>
          <p:nvPr/>
        </p:nvCxnSpPr>
        <p:spPr>
          <a:xfrm>
            <a:off x="8445615" y="4203876"/>
            <a:ext cx="631739" cy="12104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A705A2F1-C229-21CA-15FE-25AAF51AB1BE}"/>
              </a:ext>
            </a:extLst>
          </p:cNvPr>
          <p:cNvCxnSpPr>
            <a:cxnSpLocks/>
          </p:cNvCxnSpPr>
          <p:nvPr/>
        </p:nvCxnSpPr>
        <p:spPr>
          <a:xfrm>
            <a:off x="8411529" y="4224484"/>
            <a:ext cx="716600" cy="71221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FADFE77D-4554-FB2B-8470-EE96439B99EF}"/>
              </a:ext>
            </a:extLst>
          </p:cNvPr>
          <p:cNvCxnSpPr>
            <a:cxnSpLocks/>
          </p:cNvCxnSpPr>
          <p:nvPr/>
        </p:nvCxnSpPr>
        <p:spPr>
          <a:xfrm flipV="1">
            <a:off x="3824037" y="3197727"/>
            <a:ext cx="766510" cy="1010217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E4CD034D-526A-D639-13A3-6ABFC3503917}"/>
              </a:ext>
            </a:extLst>
          </p:cNvPr>
          <p:cNvCxnSpPr>
            <a:cxnSpLocks/>
          </p:cNvCxnSpPr>
          <p:nvPr/>
        </p:nvCxnSpPr>
        <p:spPr>
          <a:xfrm flipV="1">
            <a:off x="3965253" y="3779387"/>
            <a:ext cx="631896" cy="47211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6B6C2218-FE8E-9DE1-E69F-A006B5373212}"/>
              </a:ext>
            </a:extLst>
          </p:cNvPr>
          <p:cNvCxnSpPr>
            <a:cxnSpLocks/>
          </p:cNvCxnSpPr>
          <p:nvPr/>
        </p:nvCxnSpPr>
        <p:spPr>
          <a:xfrm>
            <a:off x="3965410" y="4300207"/>
            <a:ext cx="631739" cy="12104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1516004C-F722-D2CD-44E1-67E746124B27}"/>
              </a:ext>
            </a:extLst>
          </p:cNvPr>
          <p:cNvCxnSpPr>
            <a:cxnSpLocks/>
          </p:cNvCxnSpPr>
          <p:nvPr/>
        </p:nvCxnSpPr>
        <p:spPr>
          <a:xfrm>
            <a:off x="3931324" y="4320815"/>
            <a:ext cx="716600" cy="71221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078B201-B45D-6D73-237D-252CA78D453E}"/>
              </a:ext>
            </a:extLst>
          </p:cNvPr>
          <p:cNvSpPr/>
          <p:nvPr/>
        </p:nvSpPr>
        <p:spPr>
          <a:xfrm>
            <a:off x="4778531" y="2914778"/>
            <a:ext cx="2156159" cy="5142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+mj-lt"/>
              </a:rPr>
              <a:t>Placebo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1A396A-F84B-50BF-9A92-48BB352AE15B}"/>
              </a:ext>
            </a:extLst>
          </p:cNvPr>
          <p:cNvSpPr/>
          <p:nvPr/>
        </p:nvSpPr>
        <p:spPr>
          <a:xfrm>
            <a:off x="4778530" y="4131897"/>
            <a:ext cx="2156159" cy="5142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+mj-lt"/>
              </a:rPr>
              <a:t>ION224 90 mg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12B03F-0D05-BB4F-03B1-0B63D682B2A0}"/>
              </a:ext>
            </a:extLst>
          </p:cNvPr>
          <p:cNvSpPr/>
          <p:nvPr/>
        </p:nvSpPr>
        <p:spPr>
          <a:xfrm>
            <a:off x="442115" y="2517485"/>
            <a:ext cx="3223372" cy="354550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  <a:latin typeface="+mj-lt"/>
              </a:rPr>
              <a:t>Inclusion </a:t>
            </a:r>
            <a:r>
              <a:rPr lang="fr-FR" dirty="0" err="1">
                <a:solidFill>
                  <a:schemeClr val="tx1"/>
                </a:solidFill>
                <a:latin typeface="+mj-lt"/>
              </a:rPr>
              <a:t>criteria</a:t>
            </a:r>
            <a:r>
              <a:rPr lang="fr-FR" dirty="0">
                <a:solidFill>
                  <a:schemeClr val="tx1"/>
                </a:solidFill>
                <a:latin typeface="+mj-lt"/>
              </a:rPr>
              <a:t> :</a:t>
            </a:r>
          </a:p>
          <a:p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18-75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years</a:t>
            </a:r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, BMI </a:t>
            </a:r>
            <a:r>
              <a:rPr lang="fr-FR" sz="1800" dirty="0"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≥ 25</a:t>
            </a:r>
          </a:p>
          <a:p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Liver</a:t>
            </a:r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steatosis</a:t>
            </a:r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1800" dirty="0"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≥ 10%</a:t>
            </a:r>
          </a:p>
          <a:p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MASH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histologic</a:t>
            </a:r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diagnosis</a:t>
            </a:r>
            <a:endParaRPr lang="fr-FR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endParaRPr lang="fr-FR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dirty="0">
                <a:solidFill>
                  <a:schemeClr val="tx1"/>
                </a:solidFill>
                <a:latin typeface="+mj-lt"/>
              </a:rPr>
              <a:t>Exclusion </a:t>
            </a:r>
            <a:r>
              <a:rPr lang="fr-FR" dirty="0" err="1">
                <a:solidFill>
                  <a:schemeClr val="tx1"/>
                </a:solidFill>
                <a:latin typeface="+mj-lt"/>
              </a:rPr>
              <a:t>criteria</a:t>
            </a:r>
            <a:r>
              <a:rPr lang="fr-FR" dirty="0">
                <a:solidFill>
                  <a:schemeClr val="tx1"/>
                </a:solidFill>
                <a:latin typeface="+mj-lt"/>
              </a:rPr>
              <a:t> :</a:t>
            </a:r>
          </a:p>
          <a:p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Other</a:t>
            </a:r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liver</a:t>
            </a:r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disease</a:t>
            </a:r>
            <a:endParaRPr lang="fr-FR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Liver</a:t>
            </a:r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decompensation</a:t>
            </a:r>
            <a:endParaRPr lang="fr-FR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Illicit</a:t>
            </a:r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drugs</a:t>
            </a:r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 or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alcohol</a:t>
            </a:r>
            <a:endParaRPr lang="fr-FR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HIV, HBV, HCV active infection</a:t>
            </a:r>
          </a:p>
          <a:p>
            <a:r>
              <a:rPr lang="fr-FR" dirty="0">
                <a:solidFill>
                  <a:schemeClr val="tx1"/>
                </a:solidFill>
                <a:latin typeface="Aptos Light" panose="020B0004020202020204" pitchFamily="34" charset="0"/>
              </a:rPr>
              <a:t>Use of concomitant </a:t>
            </a:r>
            <a:r>
              <a:rPr lang="fr-FR" dirty="0" err="1">
                <a:solidFill>
                  <a:schemeClr val="tx1"/>
                </a:solidFill>
                <a:latin typeface="Aptos Light" panose="020B0004020202020204" pitchFamily="34" charset="0"/>
              </a:rPr>
              <a:t>medications</a:t>
            </a:r>
            <a:endParaRPr lang="fr-FR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6820F19-6926-B6E3-BCFB-21EC8AF65A42}"/>
              </a:ext>
            </a:extLst>
          </p:cNvPr>
          <p:cNvSpPr txBox="1"/>
          <p:nvPr/>
        </p:nvSpPr>
        <p:spPr>
          <a:xfrm>
            <a:off x="1136577" y="1685858"/>
            <a:ext cx="1600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Study</a:t>
            </a:r>
            <a:r>
              <a:rPr lang="fr-FR" sz="2000" dirty="0"/>
              <a:t>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792890-9475-160D-6919-A2A0AF8641C6}"/>
              </a:ext>
            </a:extLst>
          </p:cNvPr>
          <p:cNvSpPr/>
          <p:nvPr/>
        </p:nvSpPr>
        <p:spPr>
          <a:xfrm>
            <a:off x="4769833" y="4767488"/>
            <a:ext cx="2156159" cy="51422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+mj-lt"/>
              </a:rPr>
              <a:t>ION224 120 mg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5C9175-956D-F588-845B-F24692BD2232}"/>
              </a:ext>
            </a:extLst>
          </p:cNvPr>
          <p:cNvSpPr/>
          <p:nvPr/>
        </p:nvSpPr>
        <p:spPr>
          <a:xfrm>
            <a:off x="2736695" y="3972801"/>
            <a:ext cx="1507198" cy="495716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i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Phase 1</a:t>
            </a:r>
          </a:p>
          <a:p>
            <a:pPr algn="ctr"/>
            <a:r>
              <a:rPr lang="fr-FR" i="1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Random</a:t>
            </a:r>
            <a:r>
              <a:rPr lang="fr-FR" i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3:1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ABBFC8-C857-7F21-AC4E-2A431F54A964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/>
              <a:t>Introduction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C936DA-3EAD-AEE3-9A6E-B503DF0FBA93}"/>
              </a:ext>
            </a:extLst>
          </p:cNvPr>
          <p:cNvSpPr/>
          <p:nvPr/>
        </p:nvSpPr>
        <p:spPr>
          <a:xfrm>
            <a:off x="4778531" y="3522276"/>
            <a:ext cx="2156159" cy="5142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+mj-lt"/>
              </a:rPr>
              <a:t>ION224 60 mg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1925AD-9AC0-F99F-2449-6A5F292BFF2B}"/>
              </a:ext>
            </a:extLst>
          </p:cNvPr>
          <p:cNvSpPr/>
          <p:nvPr/>
        </p:nvSpPr>
        <p:spPr>
          <a:xfrm>
            <a:off x="9259694" y="3404892"/>
            <a:ext cx="2156159" cy="5142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+mj-lt"/>
              </a:rPr>
              <a:t>Placebo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FC92CB-9DD4-BFCC-E3F7-79BFE8082032}"/>
              </a:ext>
            </a:extLst>
          </p:cNvPr>
          <p:cNvSpPr/>
          <p:nvPr/>
        </p:nvSpPr>
        <p:spPr>
          <a:xfrm>
            <a:off x="9259693" y="4622011"/>
            <a:ext cx="2156159" cy="5142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+mj-lt"/>
              </a:rPr>
              <a:t>ION224 120 mg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629804-AECF-A21B-9FC7-C926EB8C58D4}"/>
              </a:ext>
            </a:extLst>
          </p:cNvPr>
          <p:cNvSpPr/>
          <p:nvPr/>
        </p:nvSpPr>
        <p:spPr>
          <a:xfrm>
            <a:off x="7185038" y="3956018"/>
            <a:ext cx="1351588" cy="495716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i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Phase 2</a:t>
            </a:r>
          </a:p>
          <a:p>
            <a:pPr algn="ctr"/>
            <a:r>
              <a:rPr lang="fr-FR" i="1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Random</a:t>
            </a:r>
            <a:r>
              <a:rPr lang="fr-FR" i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2:1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1C216D-55B0-BAE1-A354-4B27170C77C6}"/>
              </a:ext>
            </a:extLst>
          </p:cNvPr>
          <p:cNvSpPr/>
          <p:nvPr/>
        </p:nvSpPr>
        <p:spPr>
          <a:xfrm>
            <a:off x="9259694" y="4012390"/>
            <a:ext cx="2156159" cy="5142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+mj-lt"/>
              </a:rPr>
              <a:t>ION224 90 mg</a:t>
            </a:r>
          </a:p>
        </p:txBody>
      </p:sp>
      <p:sp>
        <p:nvSpPr>
          <p:cNvPr id="50" name="Virage 49">
            <a:extLst>
              <a:ext uri="{FF2B5EF4-FFF2-40B4-BE49-F238E27FC236}">
                <a16:creationId xmlns:a16="http://schemas.microsoft.com/office/drawing/2014/main" id="{158D6DAF-8D55-402A-A629-4853F2904886}"/>
              </a:ext>
            </a:extLst>
          </p:cNvPr>
          <p:cNvSpPr/>
          <p:nvPr/>
        </p:nvSpPr>
        <p:spPr>
          <a:xfrm>
            <a:off x="7116914" y="1685858"/>
            <a:ext cx="743918" cy="19787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328F1EC-4391-01FE-989A-0C278B1E598F}"/>
              </a:ext>
            </a:extLst>
          </p:cNvPr>
          <p:cNvSpPr txBox="1"/>
          <p:nvPr/>
        </p:nvSpPr>
        <p:spPr>
          <a:xfrm>
            <a:off x="7936328" y="1685858"/>
            <a:ext cx="38082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Interim</a:t>
            </a:r>
            <a:r>
              <a:rPr lang="fr-FR" b="1" dirty="0"/>
              <a:t> </a:t>
            </a:r>
            <a:r>
              <a:rPr lang="fr-FR" b="1" dirty="0" err="1"/>
              <a:t>analysis</a:t>
            </a:r>
            <a:r>
              <a:rPr lang="fr-FR" dirty="0"/>
              <a:t> at 13 </a:t>
            </a:r>
            <a:r>
              <a:rPr lang="fr-FR" dirty="0" err="1"/>
              <a:t>weeks</a:t>
            </a:r>
            <a:r>
              <a:rPr lang="fr-FR" dirty="0"/>
              <a:t>, N = 50</a:t>
            </a:r>
          </a:p>
          <a:p>
            <a:r>
              <a:rPr lang="fr-FR" sz="1600" i="1" dirty="0">
                <a:latin typeface="Aptos Light" panose="020B0004020202020204" pitchFamily="34" charset="0"/>
              </a:rPr>
              <a:t>- </a:t>
            </a:r>
            <a:r>
              <a:rPr lang="fr-FR" sz="1600" i="1" dirty="0" err="1">
                <a:latin typeface="Aptos Light" panose="020B0004020202020204" pitchFamily="34" charset="0"/>
              </a:rPr>
              <a:t>Safety</a:t>
            </a:r>
            <a:endParaRPr lang="fr-FR" sz="1600" i="1" dirty="0">
              <a:latin typeface="Aptos Light" panose="020B0004020202020204" pitchFamily="34" charset="0"/>
            </a:endParaRPr>
          </a:p>
          <a:p>
            <a:r>
              <a:rPr lang="fr-FR" sz="1600" i="1" dirty="0">
                <a:latin typeface="Aptos Light" panose="020B0004020202020204" pitchFamily="34" charset="0"/>
              </a:rPr>
              <a:t>- </a:t>
            </a:r>
            <a:r>
              <a:rPr lang="fr-FR" sz="1600" i="1" dirty="0" err="1">
                <a:latin typeface="Aptos Light" panose="020B0004020202020204" pitchFamily="34" charset="0"/>
              </a:rPr>
              <a:t>Liver</a:t>
            </a:r>
            <a:r>
              <a:rPr lang="fr-FR" sz="1600" i="1" dirty="0">
                <a:latin typeface="Aptos Light" panose="020B0004020202020204" pitchFamily="34" charset="0"/>
              </a:rPr>
              <a:t> </a:t>
            </a:r>
            <a:r>
              <a:rPr lang="fr-FR" sz="1600" i="1" dirty="0" err="1">
                <a:latin typeface="Aptos Light" panose="020B0004020202020204" pitchFamily="34" charset="0"/>
              </a:rPr>
              <a:t>steatosis</a:t>
            </a:r>
            <a:endParaRPr lang="fr-FR" sz="1600" i="1" dirty="0">
              <a:latin typeface="Aptos Light" panose="020B0004020202020204" pitchFamily="34" charset="0"/>
            </a:endParaRPr>
          </a:p>
          <a:p>
            <a:r>
              <a:rPr lang="fr-FR" sz="1600" i="1" dirty="0">
                <a:latin typeface="Aptos Light" panose="020B0004020202020204" pitchFamily="34" charset="0"/>
              </a:rPr>
              <a:t>- </a:t>
            </a:r>
            <a:r>
              <a:rPr lang="fr-FR" sz="1600" i="1" dirty="0" err="1">
                <a:latin typeface="Aptos Light" panose="020B0004020202020204" pitchFamily="34" charset="0"/>
              </a:rPr>
              <a:t>Liver</a:t>
            </a:r>
            <a:r>
              <a:rPr lang="fr-FR" sz="1600" i="1" dirty="0">
                <a:latin typeface="Aptos Light" panose="020B0004020202020204" pitchFamily="34" charset="0"/>
              </a:rPr>
              <a:t> </a:t>
            </a:r>
            <a:r>
              <a:rPr lang="fr-FR" sz="1600" i="1" dirty="0" err="1">
                <a:latin typeface="Aptos Light" panose="020B0004020202020204" pitchFamily="34" charset="0"/>
              </a:rPr>
              <a:t>transminases</a:t>
            </a:r>
            <a:endParaRPr lang="fr-FR" i="1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91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393C7-2842-3D4F-9FFD-03863AC0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E74A1A7-A3A4-7AB7-A922-0054AEABDC8A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/>
              <a:t>Methods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2ADA8-31D6-5309-65AE-E3AD0A177558}"/>
              </a:ext>
            </a:extLst>
          </p:cNvPr>
          <p:cNvSpPr/>
          <p:nvPr/>
        </p:nvSpPr>
        <p:spPr>
          <a:xfrm>
            <a:off x="651974" y="3561206"/>
            <a:ext cx="10888052" cy="2862322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i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39CF7-7A48-442B-3712-D1A010B810F5}"/>
              </a:ext>
            </a:extLst>
          </p:cNvPr>
          <p:cNvSpPr/>
          <p:nvPr/>
        </p:nvSpPr>
        <p:spPr>
          <a:xfrm>
            <a:off x="651974" y="1432984"/>
            <a:ext cx="10888052" cy="1637860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i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8EA212D-7E8F-4FE9-EF06-66703265005A}"/>
              </a:ext>
            </a:extLst>
          </p:cNvPr>
          <p:cNvSpPr txBox="1"/>
          <p:nvPr/>
        </p:nvSpPr>
        <p:spPr>
          <a:xfrm>
            <a:off x="979357" y="3584413"/>
            <a:ext cx="103063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ptos" panose="020B0004020202020204" pitchFamily="34" charset="0"/>
              </a:rPr>
              <a:t>Power (</a:t>
            </a:r>
            <a:r>
              <a:rPr lang="el-GR" dirty="0">
                <a:latin typeface="Aptos" panose="020B0004020202020204" pitchFamily="34" charset="0"/>
              </a:rPr>
              <a:t>β </a:t>
            </a:r>
            <a:r>
              <a:rPr lang="fr-FR" dirty="0" err="1">
                <a:latin typeface="Aptos" panose="020B0004020202020204" pitchFamily="34" charset="0"/>
              </a:rPr>
              <a:t>risk</a:t>
            </a:r>
            <a:r>
              <a:rPr lang="fr-FR" dirty="0">
                <a:latin typeface="Aptos" panose="020B0004020202020204" pitchFamily="34" charset="0"/>
              </a:rPr>
              <a:t>): 80%</a:t>
            </a:r>
          </a:p>
          <a:p>
            <a:r>
              <a:rPr lang="fr-FR" dirty="0">
                <a:latin typeface="Aptos Light" panose="020B0004020202020204" pitchFamily="34" charset="0"/>
              </a:rPr>
              <a:t>Part 1:</a:t>
            </a:r>
            <a:br>
              <a:rPr lang="fr-FR" dirty="0">
                <a:latin typeface="Aptos Light" panose="020B0004020202020204" pitchFamily="34" charset="0"/>
              </a:rPr>
            </a:br>
            <a:r>
              <a:rPr lang="fr-FR" dirty="0">
                <a:latin typeface="Aptos Light" panose="020B0004020202020204" pitchFamily="34" charset="0"/>
              </a:rPr>
              <a:t>- Relative </a:t>
            </a:r>
            <a:r>
              <a:rPr lang="fr-FR" dirty="0" err="1">
                <a:latin typeface="Aptos Light" panose="020B0004020202020204" pitchFamily="34" charset="0"/>
              </a:rPr>
              <a:t>difference</a:t>
            </a:r>
            <a:r>
              <a:rPr lang="fr-FR" dirty="0">
                <a:latin typeface="Aptos Light" panose="020B0004020202020204" pitchFamily="34" charset="0"/>
              </a:rPr>
              <a:t>: 25% </a:t>
            </a:r>
            <a:r>
              <a:rPr lang="fr-FR" dirty="0" err="1">
                <a:latin typeface="Aptos Light" panose="020B0004020202020204" pitchFamily="34" charset="0"/>
              </a:rPr>
              <a:t>reduction</a:t>
            </a:r>
            <a:r>
              <a:rPr lang="fr-FR" dirty="0">
                <a:latin typeface="Aptos Light" panose="020B0004020202020204" pitchFamily="34" charset="0"/>
              </a:rPr>
              <a:t> in MRI-PDFF (</a:t>
            </a:r>
            <a:r>
              <a:rPr lang="fr-FR" dirty="0" err="1">
                <a:latin typeface="Aptos Light" panose="020B0004020202020204" pitchFamily="34" charset="0"/>
              </a:rPr>
              <a:t>measures</a:t>
            </a:r>
            <a:r>
              <a:rPr lang="fr-FR" dirty="0">
                <a:latin typeface="Aptos Light" panose="020B0004020202020204" pitchFamily="34" charset="0"/>
              </a:rPr>
              <a:t> the percentage of fat in the </a:t>
            </a:r>
            <a:r>
              <a:rPr lang="fr-FR" dirty="0" err="1">
                <a:latin typeface="Aptos Light" panose="020B0004020202020204" pitchFamily="34" charset="0"/>
              </a:rPr>
              <a:t>liver</a:t>
            </a:r>
            <a:r>
              <a:rPr lang="fr-FR" dirty="0">
                <a:latin typeface="Aptos Light" panose="020B0004020202020204" pitchFamily="34" charset="0"/>
              </a:rPr>
              <a:t>)</a:t>
            </a:r>
            <a:br>
              <a:rPr lang="fr-FR" dirty="0">
                <a:latin typeface="Aptos Light" panose="020B0004020202020204" pitchFamily="34" charset="0"/>
              </a:rPr>
            </a:br>
            <a:r>
              <a:rPr lang="fr-FR" dirty="0">
                <a:latin typeface="Aptos Light" panose="020B0004020202020204" pitchFamily="34" charset="0"/>
              </a:rPr>
              <a:t>- </a:t>
            </a:r>
            <a:r>
              <a:rPr lang="fr-FR" dirty="0" err="1">
                <a:latin typeface="Aptos Light" panose="020B0004020202020204" pitchFamily="34" charset="0"/>
              </a:rPr>
              <a:t>Sample</a:t>
            </a:r>
            <a:r>
              <a:rPr lang="fr-FR" dirty="0">
                <a:latin typeface="Aptos Light" panose="020B0004020202020204" pitchFamily="34" charset="0"/>
              </a:rPr>
              <a:t> size: 12 participants per group (≈25 total </a:t>
            </a:r>
            <a:r>
              <a:rPr lang="fr-FR" dirty="0" err="1">
                <a:latin typeface="Aptos Light" panose="020B0004020202020204" pitchFamily="34" charset="0"/>
              </a:rPr>
              <a:t>including</a:t>
            </a:r>
            <a:r>
              <a:rPr lang="fr-FR" dirty="0">
                <a:latin typeface="Aptos Light" panose="020B0004020202020204" pitchFamily="34" charset="0"/>
              </a:rPr>
              <a:t> placebo)</a:t>
            </a:r>
            <a:br>
              <a:rPr lang="fr-FR" dirty="0">
                <a:latin typeface="Aptos Light" panose="020B0004020202020204" pitchFamily="34" charset="0"/>
              </a:rPr>
            </a:br>
            <a:r>
              <a:rPr lang="fr-FR" dirty="0">
                <a:latin typeface="Aptos Light" panose="020B0004020202020204" pitchFamily="34" charset="0"/>
              </a:rPr>
              <a:t>- Assumptions: SD = 20%, </a:t>
            </a:r>
            <a:r>
              <a:rPr lang="el-GR" dirty="0">
                <a:latin typeface="Aptos Light" panose="020B0004020202020204" pitchFamily="34" charset="0"/>
              </a:rPr>
              <a:t>α = 0.05</a:t>
            </a:r>
            <a:endParaRPr lang="el-GR" sz="1600" dirty="0">
              <a:latin typeface="Aptos Light" panose="020B0004020202020204" pitchFamily="34" charset="0"/>
            </a:endParaRPr>
          </a:p>
          <a:p>
            <a:r>
              <a:rPr lang="fr-FR" dirty="0">
                <a:latin typeface="Aptos Light" panose="020B0004020202020204" pitchFamily="34" charset="0"/>
              </a:rPr>
              <a:t>Part 2:</a:t>
            </a:r>
            <a:br>
              <a:rPr lang="fr-FR" dirty="0">
                <a:latin typeface="Aptos Light" panose="020B0004020202020204" pitchFamily="34" charset="0"/>
              </a:rPr>
            </a:br>
            <a:r>
              <a:rPr lang="fr-FR" dirty="0">
                <a:latin typeface="Aptos Light" panose="020B0004020202020204" pitchFamily="34" charset="0"/>
              </a:rPr>
              <a:t>- Relative </a:t>
            </a:r>
            <a:r>
              <a:rPr lang="fr-FR" dirty="0" err="1">
                <a:latin typeface="Aptos Light" panose="020B0004020202020204" pitchFamily="34" charset="0"/>
              </a:rPr>
              <a:t>difference</a:t>
            </a:r>
            <a:r>
              <a:rPr lang="fr-FR" dirty="0">
                <a:latin typeface="Aptos Light" panose="020B0004020202020204" pitchFamily="34" charset="0"/>
              </a:rPr>
              <a:t>: 30% </a:t>
            </a:r>
            <a:r>
              <a:rPr lang="fr-FR" dirty="0" err="1">
                <a:latin typeface="Aptos Light" panose="020B0004020202020204" pitchFamily="34" charset="0"/>
              </a:rPr>
              <a:t>difference</a:t>
            </a:r>
            <a:r>
              <a:rPr lang="fr-FR" dirty="0">
                <a:latin typeface="Aptos Light" panose="020B0004020202020204" pitchFamily="34" charset="0"/>
              </a:rPr>
              <a:t> in </a:t>
            </a:r>
            <a:r>
              <a:rPr lang="fr-FR" dirty="0" err="1">
                <a:latin typeface="Aptos Light" panose="020B0004020202020204" pitchFamily="34" charset="0"/>
              </a:rPr>
              <a:t>responder</a:t>
            </a:r>
            <a:r>
              <a:rPr lang="fr-FR" dirty="0">
                <a:latin typeface="Aptos Light" panose="020B0004020202020204" pitchFamily="34" charset="0"/>
              </a:rPr>
              <a:t> rate</a:t>
            </a:r>
            <a:br>
              <a:rPr lang="fr-FR" dirty="0">
                <a:latin typeface="Aptos Light" panose="020B0004020202020204" pitchFamily="34" charset="0"/>
              </a:rPr>
            </a:br>
            <a:r>
              <a:rPr lang="fr-FR" dirty="0">
                <a:latin typeface="Aptos Light" panose="020B0004020202020204" pitchFamily="34" charset="0"/>
              </a:rPr>
              <a:t>- </a:t>
            </a:r>
            <a:r>
              <a:rPr lang="fr-FR" dirty="0" err="1">
                <a:latin typeface="Aptos Light" panose="020B0004020202020204" pitchFamily="34" charset="0"/>
              </a:rPr>
              <a:t>Sample</a:t>
            </a:r>
            <a:r>
              <a:rPr lang="fr-FR" dirty="0">
                <a:latin typeface="Aptos Light" panose="020B0004020202020204" pitchFamily="34" charset="0"/>
              </a:rPr>
              <a:t> size: 39 participants per </a:t>
            </a:r>
            <a:r>
              <a:rPr lang="fr-FR" dirty="0" err="1">
                <a:latin typeface="Aptos Light" panose="020B0004020202020204" pitchFamily="34" charset="0"/>
              </a:rPr>
              <a:t>treatment</a:t>
            </a:r>
            <a:r>
              <a:rPr lang="fr-FR" dirty="0">
                <a:latin typeface="Aptos Light" panose="020B0004020202020204" pitchFamily="34" charset="0"/>
              </a:rPr>
              <a:t> group</a:t>
            </a:r>
          </a:p>
          <a:p>
            <a:endParaRPr lang="fr-FR" dirty="0">
              <a:latin typeface="Aptos Light" panose="020B0004020202020204" pitchFamily="34" charset="0"/>
            </a:endParaRPr>
          </a:p>
          <a:p>
            <a:r>
              <a:rPr lang="fr-FR" dirty="0">
                <a:latin typeface="Aptos Light" panose="020B0004020202020204" pitchFamily="34" charset="0"/>
              </a:rPr>
              <a:t>Dropout rate: 15% (</a:t>
            </a:r>
            <a:r>
              <a:rPr lang="fr-FR" dirty="0" err="1">
                <a:latin typeface="Aptos Light" panose="020B0004020202020204" pitchFamily="34" charset="0"/>
              </a:rPr>
              <a:t>included</a:t>
            </a:r>
            <a:r>
              <a:rPr lang="fr-FR" dirty="0">
                <a:latin typeface="Aptos Light" panose="020B0004020202020204" pitchFamily="34" charset="0"/>
              </a:rPr>
              <a:t> in </a:t>
            </a:r>
            <a:r>
              <a:rPr lang="fr-FR" dirty="0" err="1">
                <a:latin typeface="Aptos Light" panose="020B0004020202020204" pitchFamily="34" charset="0"/>
              </a:rPr>
              <a:t>sample</a:t>
            </a:r>
            <a:r>
              <a:rPr lang="fr-FR" dirty="0">
                <a:latin typeface="Aptos Light" panose="020B0004020202020204" pitchFamily="34" charset="0"/>
              </a:rPr>
              <a:t> size </a:t>
            </a:r>
            <a:r>
              <a:rPr lang="fr-FR" dirty="0" err="1">
                <a:latin typeface="Aptos Light" panose="020B0004020202020204" pitchFamily="34" charset="0"/>
              </a:rPr>
              <a:t>calculations</a:t>
            </a:r>
            <a:r>
              <a:rPr lang="fr-FR" dirty="0">
                <a:latin typeface="Aptos Light" panose="020B0004020202020204" pitchFamily="34" charset="0"/>
              </a:rPr>
              <a:t>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6BD1FEC-DD21-4124-EC06-E3FC15701042}"/>
              </a:ext>
            </a:extLst>
          </p:cNvPr>
          <p:cNvSpPr txBox="1"/>
          <p:nvPr/>
        </p:nvSpPr>
        <p:spPr>
          <a:xfrm>
            <a:off x="979357" y="3161096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>
                <a:latin typeface="Aptos" panose="020B0004020202020204" pitchFamily="34" charset="0"/>
              </a:rPr>
              <a:t>Sample</a:t>
            </a:r>
            <a:r>
              <a:rPr lang="fr-FR" sz="2000" dirty="0">
                <a:latin typeface="Aptos" panose="020B0004020202020204" pitchFamily="34" charset="0"/>
              </a:rPr>
              <a:t> Size </a:t>
            </a:r>
            <a:r>
              <a:rPr lang="fr-FR" sz="2000" dirty="0" err="1">
                <a:latin typeface="Aptos" panose="020B0004020202020204" pitchFamily="34" charset="0"/>
              </a:rPr>
              <a:t>Determination</a:t>
            </a:r>
            <a:endParaRPr lang="fr-FR" sz="2000" dirty="0">
              <a:latin typeface="Aptos" panose="020B00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D1CAAAB-60D1-B2CD-BB2F-B99F7218F704}"/>
              </a:ext>
            </a:extLst>
          </p:cNvPr>
          <p:cNvSpPr txBox="1"/>
          <p:nvPr/>
        </p:nvSpPr>
        <p:spPr>
          <a:xfrm>
            <a:off x="946893" y="1648973"/>
            <a:ext cx="1030637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PEP : </a:t>
            </a:r>
            <a:r>
              <a:rPr lang="fr-FR" dirty="0">
                <a:effectLst/>
                <a:latin typeface="Aptos Light" panose="020B0004020202020204" pitchFamily="34" charset="0"/>
              </a:rPr>
              <a:t>≥2-point </a:t>
            </a:r>
            <a:r>
              <a:rPr lang="fr-FR" dirty="0" err="1">
                <a:effectLst/>
                <a:latin typeface="Aptos Light" panose="020B0004020202020204" pitchFamily="34" charset="0"/>
              </a:rPr>
              <a:t>reduction</a:t>
            </a:r>
            <a:r>
              <a:rPr lang="fr-FR" dirty="0">
                <a:effectLst/>
                <a:latin typeface="Aptos Light" panose="020B0004020202020204" pitchFamily="34" charset="0"/>
              </a:rPr>
              <a:t> in NAS score, </a:t>
            </a:r>
            <a:r>
              <a:rPr lang="fr-FR" dirty="0" err="1">
                <a:effectLst/>
                <a:latin typeface="Aptos Light" panose="020B0004020202020204" pitchFamily="34" charset="0"/>
              </a:rPr>
              <a:t>w</a:t>
            </a:r>
            <a:r>
              <a:rPr lang="fr-FR" dirty="0" err="1">
                <a:latin typeface="Aptos Light" panose="020B0004020202020204" pitchFamily="34" charset="0"/>
              </a:rPr>
              <a:t>ith</a:t>
            </a:r>
            <a:r>
              <a:rPr lang="fr-FR" dirty="0">
                <a:latin typeface="Aptos Light" panose="020B0004020202020204" pitchFamily="34" charset="0"/>
              </a:rPr>
              <a:t> </a:t>
            </a:r>
            <a:r>
              <a:rPr lang="fr-FR" dirty="0">
                <a:effectLst/>
                <a:latin typeface="Aptos Light" panose="020B0004020202020204" pitchFamily="34" charset="0"/>
              </a:rPr>
              <a:t>≥1-point </a:t>
            </a:r>
            <a:r>
              <a:rPr lang="fr-FR" dirty="0" err="1">
                <a:effectLst/>
                <a:latin typeface="Aptos Light" panose="020B0004020202020204" pitchFamily="34" charset="0"/>
              </a:rPr>
              <a:t>improvement</a:t>
            </a:r>
            <a:r>
              <a:rPr lang="fr-FR" dirty="0">
                <a:effectLst/>
                <a:latin typeface="Aptos Light" panose="020B0004020202020204" pitchFamily="34" charset="0"/>
              </a:rPr>
              <a:t> in </a:t>
            </a:r>
            <a:r>
              <a:rPr lang="fr-FR" dirty="0" err="1">
                <a:effectLst/>
                <a:latin typeface="Aptos Light" panose="020B0004020202020204" pitchFamily="34" charset="0"/>
              </a:rPr>
              <a:t>hepatocellular</a:t>
            </a:r>
            <a:r>
              <a:rPr lang="fr-FR" dirty="0">
                <a:effectLst/>
                <a:latin typeface="Aptos Light" panose="020B0004020202020204" pitchFamily="34" charset="0"/>
              </a:rPr>
              <a:t> </a:t>
            </a:r>
            <a:r>
              <a:rPr lang="fr-FR" dirty="0" err="1">
                <a:effectLst/>
                <a:latin typeface="Aptos Light" panose="020B0004020202020204" pitchFamily="34" charset="0"/>
              </a:rPr>
              <a:t>ballooning</a:t>
            </a:r>
            <a:r>
              <a:rPr lang="fr-FR" dirty="0">
                <a:effectLst/>
                <a:latin typeface="Aptos Light" panose="020B0004020202020204" pitchFamily="34" charset="0"/>
              </a:rPr>
              <a:t> or </a:t>
            </a:r>
            <a:r>
              <a:rPr lang="fr-FR" dirty="0" err="1">
                <a:effectLst/>
                <a:latin typeface="Aptos Light" panose="020B0004020202020204" pitchFamily="34" charset="0"/>
              </a:rPr>
              <a:t>lobular</a:t>
            </a:r>
            <a:r>
              <a:rPr lang="fr-FR" dirty="0">
                <a:effectLst/>
                <a:latin typeface="Aptos Light" panose="020B0004020202020204" pitchFamily="34" charset="0"/>
              </a:rPr>
              <a:t> inflammation, </a:t>
            </a:r>
            <a:r>
              <a:rPr lang="fr-FR" dirty="0" err="1">
                <a:effectLst/>
                <a:latin typeface="Aptos Light" panose="020B0004020202020204" pitchFamily="34" charset="0"/>
              </a:rPr>
              <a:t>wi</a:t>
            </a:r>
            <a:r>
              <a:rPr lang="fr-FR" dirty="0" err="1">
                <a:latin typeface="Aptos Light" panose="020B0004020202020204" pitchFamily="34" charset="0"/>
              </a:rPr>
              <a:t>thout</a:t>
            </a:r>
            <a:r>
              <a:rPr lang="fr-FR" dirty="0">
                <a:latin typeface="Aptos Light" panose="020B0004020202020204" pitchFamily="34" charset="0"/>
              </a:rPr>
              <a:t> </a:t>
            </a:r>
            <a:r>
              <a:rPr lang="fr-FR" dirty="0" err="1">
                <a:latin typeface="Aptos Light" panose="020B0004020202020204" pitchFamily="34" charset="0"/>
              </a:rPr>
              <a:t>worserining</a:t>
            </a:r>
            <a:r>
              <a:rPr lang="fr-FR" dirty="0">
                <a:latin typeface="Aptos Light" panose="020B0004020202020204" pitchFamily="34" charset="0"/>
              </a:rPr>
              <a:t> </a:t>
            </a:r>
            <a:r>
              <a:rPr lang="fr-FR" dirty="0" err="1">
                <a:latin typeface="Aptos Light" panose="020B0004020202020204" pitchFamily="34" charset="0"/>
              </a:rPr>
              <a:t>fibrosis</a:t>
            </a:r>
            <a:endParaRPr lang="fr-FR" sz="2000" dirty="0">
              <a:effectLst/>
              <a:latin typeface="ScalaLancetPro"/>
            </a:endParaRPr>
          </a:p>
          <a:p>
            <a:r>
              <a:rPr lang="fr-FR" sz="2000" dirty="0">
                <a:latin typeface="ScalaLancetPro"/>
              </a:rPr>
              <a:t>SEP : </a:t>
            </a:r>
            <a:r>
              <a:rPr lang="fr-FR" sz="1800" dirty="0">
                <a:effectLst/>
                <a:latin typeface="Aptos Light" panose="020B0004020202020204" pitchFamily="34" charset="0"/>
              </a:rPr>
              <a:t>MASH </a:t>
            </a:r>
            <a:r>
              <a:rPr lang="fr-FR" sz="1800" dirty="0" err="1">
                <a:effectLst/>
                <a:latin typeface="Aptos Light" panose="020B0004020202020204" pitchFamily="34" charset="0"/>
              </a:rPr>
              <a:t>resolution</a:t>
            </a:r>
            <a:r>
              <a:rPr lang="fr-FR" dirty="0">
                <a:latin typeface="Aptos Light" panose="020B0004020202020204" pitchFamily="34" charset="0"/>
              </a:rPr>
              <a:t>; </a:t>
            </a:r>
            <a:r>
              <a:rPr lang="fr-FR" sz="1800" dirty="0" err="1">
                <a:effectLst/>
                <a:latin typeface="Aptos Light" panose="020B0004020202020204" pitchFamily="34" charset="0"/>
              </a:rPr>
              <a:t>reduction</a:t>
            </a:r>
            <a:r>
              <a:rPr lang="fr-FR" sz="1800" dirty="0">
                <a:effectLst/>
                <a:latin typeface="Aptos Light" panose="020B0004020202020204" pitchFamily="34" charset="0"/>
              </a:rPr>
              <a:t> of at least one stage in the </a:t>
            </a:r>
            <a:r>
              <a:rPr lang="fr-FR" sz="1800" dirty="0" err="1">
                <a:effectLst/>
                <a:latin typeface="Aptos Light" panose="020B0004020202020204" pitchFamily="34" charset="0"/>
              </a:rPr>
              <a:t>fibrosis</a:t>
            </a:r>
            <a:r>
              <a:rPr lang="fr-FR" sz="1800" dirty="0">
                <a:effectLst/>
                <a:latin typeface="Aptos Light" panose="020B0004020202020204" pitchFamily="34" charset="0"/>
              </a:rPr>
              <a:t> score </a:t>
            </a:r>
            <a:endParaRPr lang="fr-FR" sz="2000" dirty="0">
              <a:latin typeface="Aptos Light" panose="020B0004020202020204" pitchFamily="34" charset="0"/>
            </a:endParaRPr>
          </a:p>
          <a:p>
            <a:r>
              <a:rPr lang="fr-FR" sz="2000" dirty="0">
                <a:latin typeface="ScalaLancetPro"/>
              </a:rPr>
              <a:t>Per protocole </a:t>
            </a:r>
            <a:r>
              <a:rPr lang="fr-FR" sz="2000" dirty="0" err="1">
                <a:latin typeface="ScalaLancetPro"/>
              </a:rPr>
              <a:t>analysis</a:t>
            </a:r>
            <a:r>
              <a:rPr lang="fr-FR" sz="2000" dirty="0">
                <a:latin typeface="ScalaLancetPro"/>
              </a:rPr>
              <a:t> </a:t>
            </a:r>
            <a:r>
              <a:rPr lang="fr-FR" i="1" dirty="0">
                <a:latin typeface="Aptos Light" panose="020B0004020202020204" pitchFamily="34" charset="0"/>
              </a:rPr>
              <a:t>(</a:t>
            </a:r>
            <a:r>
              <a:rPr lang="fr-FR" sz="1600" i="1" dirty="0">
                <a:effectLst/>
                <a:latin typeface="Aptos Light" panose="020B0004020202020204" pitchFamily="34" charset="0"/>
              </a:rPr>
              <a:t>at least 10 doses of ION224/placebo,  </a:t>
            </a:r>
            <a:r>
              <a:rPr lang="fr-FR" sz="1600" i="1" dirty="0" err="1">
                <a:effectLst/>
                <a:latin typeface="Aptos Light" panose="020B0004020202020204" pitchFamily="34" charset="0"/>
              </a:rPr>
              <a:t>without</a:t>
            </a:r>
            <a:r>
              <a:rPr lang="fr-FR" sz="1600" i="1" dirty="0">
                <a:effectLst/>
                <a:latin typeface="Aptos Light" panose="020B0004020202020204" pitchFamily="34" charset="0"/>
              </a:rPr>
              <a:t> </a:t>
            </a:r>
            <a:r>
              <a:rPr lang="fr-FR" sz="1600" i="1" dirty="0" err="1">
                <a:effectLst/>
                <a:latin typeface="Aptos Light" panose="020B0004020202020204" pitchFamily="34" charset="0"/>
              </a:rPr>
              <a:t>missing</a:t>
            </a:r>
            <a:r>
              <a:rPr lang="fr-FR" sz="1600" i="1" dirty="0">
                <a:effectLst/>
                <a:latin typeface="Aptos Light" panose="020B0004020202020204" pitchFamily="34" charset="0"/>
              </a:rPr>
              <a:t> 3 </a:t>
            </a:r>
            <a:r>
              <a:rPr lang="fr-FR" sz="1600" i="1" dirty="0" err="1">
                <a:effectLst/>
                <a:latin typeface="Aptos Light" panose="020B0004020202020204" pitchFamily="34" charset="0"/>
              </a:rPr>
              <a:t>consecutive</a:t>
            </a:r>
            <a:r>
              <a:rPr lang="fr-FR" sz="1600" i="1" dirty="0">
                <a:effectLst/>
                <a:latin typeface="Aptos Light" panose="020B0004020202020204" pitchFamily="34" charset="0"/>
              </a:rPr>
              <a:t> doses)</a:t>
            </a:r>
            <a:endParaRPr lang="fr-FR" i="1" dirty="0">
              <a:latin typeface="Aptos Light" panose="020B00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1A46BFB-3551-CFA7-183C-551410FB9B7B}"/>
              </a:ext>
            </a:extLst>
          </p:cNvPr>
          <p:cNvSpPr txBox="1"/>
          <p:nvPr/>
        </p:nvSpPr>
        <p:spPr>
          <a:xfrm>
            <a:off x="965693" y="1011932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>
                <a:latin typeface="Aptos" panose="020B0004020202020204" pitchFamily="34" charset="0"/>
              </a:rPr>
              <a:t>Endpoints</a:t>
            </a:r>
            <a:endParaRPr lang="fr-FR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578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A2791-59A8-6D64-2CA5-C7D31902E2BD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 err="1"/>
              <a:t>Results</a:t>
            </a:r>
            <a:endParaRPr lang="fr-FR" sz="2800" dirty="0"/>
          </a:p>
        </p:txBody>
      </p:sp>
      <p:pic>
        <p:nvPicPr>
          <p:cNvPr id="6" name="Image 5" descr="Une image contenant texte, capture d’écran, diagramme, Police&#10;&#10;Description générée automatiquement">
            <a:extLst>
              <a:ext uri="{FF2B5EF4-FFF2-40B4-BE49-F238E27FC236}">
                <a16:creationId xmlns:a16="http://schemas.microsoft.com/office/drawing/2014/main" id="{1D9D7060-34CE-8D3F-5427-B5CC515F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72" y="955196"/>
            <a:ext cx="4978400" cy="57023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35C4426-AE63-2575-28BF-E4A5FE51388D}"/>
              </a:ext>
            </a:extLst>
          </p:cNvPr>
          <p:cNvSpPr/>
          <p:nvPr/>
        </p:nvSpPr>
        <p:spPr>
          <a:xfrm>
            <a:off x="6214328" y="1428871"/>
            <a:ext cx="5271700" cy="4754953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i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11A88EA-ECA7-AE11-4095-DFFC064FCB39}"/>
              </a:ext>
            </a:extLst>
          </p:cNvPr>
          <p:cNvSpPr txBox="1"/>
          <p:nvPr/>
        </p:nvSpPr>
        <p:spPr>
          <a:xfrm>
            <a:off x="6390958" y="1665219"/>
            <a:ext cx="509507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/>
              <a:t>I</a:t>
            </a:r>
            <a:r>
              <a:rPr lang="fr-FR" sz="2000" dirty="0" err="1">
                <a:effectLst/>
                <a:latin typeface="ScalaLancetPro"/>
              </a:rPr>
              <a:t>mprovement</a:t>
            </a:r>
            <a:r>
              <a:rPr lang="fr-FR" sz="2000" dirty="0">
                <a:effectLst/>
                <a:latin typeface="ScalaLancetPro"/>
              </a:rPr>
              <a:t> of MASH at </a:t>
            </a:r>
            <a:r>
              <a:rPr lang="fr-FR" sz="2000" dirty="0" err="1">
                <a:effectLst/>
                <a:latin typeface="ScalaLancetPro"/>
              </a:rPr>
              <a:t>week</a:t>
            </a:r>
            <a:r>
              <a:rPr lang="fr-FR" sz="2000" dirty="0">
                <a:effectLst/>
                <a:latin typeface="ScalaLancetPro"/>
              </a:rPr>
              <a:t> 51 </a:t>
            </a:r>
            <a:r>
              <a:rPr lang="fr-FR" sz="2000" dirty="0" err="1">
                <a:effectLst/>
                <a:latin typeface="ScalaLancetPro"/>
              </a:rPr>
              <a:t>without</a:t>
            </a:r>
            <a:r>
              <a:rPr lang="fr-FR" sz="2000" dirty="0">
                <a:effectLst/>
                <a:latin typeface="ScalaLancetPro"/>
              </a:rPr>
              <a:t> </a:t>
            </a:r>
            <a:r>
              <a:rPr lang="fr-FR" sz="2000" dirty="0" err="1">
                <a:effectLst/>
                <a:latin typeface="ScalaLancetPro"/>
              </a:rPr>
              <a:t>worsening</a:t>
            </a:r>
            <a:r>
              <a:rPr lang="fr-FR" sz="2000" dirty="0">
                <a:effectLst/>
                <a:latin typeface="ScalaLancetPro"/>
              </a:rPr>
              <a:t> </a:t>
            </a:r>
            <a:r>
              <a:rPr lang="fr-FR" sz="2000" dirty="0" err="1">
                <a:effectLst/>
                <a:latin typeface="ScalaLancetPro"/>
              </a:rPr>
              <a:t>fibrosis</a:t>
            </a:r>
            <a:endParaRPr lang="fr-FR" sz="2000" dirty="0">
              <a:effectLst/>
              <a:latin typeface="ScalaLancetPro"/>
            </a:endParaRPr>
          </a:p>
          <a:p>
            <a:r>
              <a:rPr lang="fr-FR" sz="2000" dirty="0"/>
              <a:t> </a:t>
            </a:r>
          </a:p>
          <a:p>
            <a:r>
              <a:rPr lang="fr-FR" sz="2000" dirty="0" err="1"/>
              <a:t>Comparison</a:t>
            </a:r>
            <a:r>
              <a:rPr lang="fr-FR" sz="2000" dirty="0"/>
              <a:t> Placebo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each</a:t>
            </a:r>
            <a:r>
              <a:rPr lang="fr-FR" sz="2000" dirty="0"/>
              <a:t> ION224 group</a:t>
            </a:r>
          </a:p>
          <a:p>
            <a:r>
              <a:rPr lang="fr-FR" sz="2000" dirty="0">
                <a:latin typeface="Aptos Light" panose="020B0004020202020204" pitchFamily="34" charset="0"/>
              </a:rPr>
              <a:t>Chi2 to compare placebo </a:t>
            </a:r>
            <a:r>
              <a:rPr lang="fr-FR" sz="2000" dirty="0" err="1">
                <a:latin typeface="Aptos Light" panose="020B0004020202020204" pitchFamily="34" charset="0"/>
              </a:rPr>
              <a:t>with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each</a:t>
            </a:r>
            <a:r>
              <a:rPr lang="fr-FR" sz="2000" dirty="0">
                <a:latin typeface="Aptos Light" panose="020B0004020202020204" pitchFamily="34" charset="0"/>
              </a:rPr>
              <a:t> group</a:t>
            </a:r>
          </a:p>
          <a:p>
            <a:r>
              <a:rPr lang="fr-FR" sz="2000" dirty="0">
                <a:latin typeface="Aptos Light" panose="020B0004020202020204" pitchFamily="34" charset="0"/>
              </a:rPr>
              <a:t>Or </a:t>
            </a:r>
            <a:r>
              <a:rPr lang="fr-FR" sz="2000" dirty="0" err="1">
                <a:latin typeface="Aptos Light" panose="020B0004020202020204" pitchFamily="34" charset="0"/>
              </a:rPr>
              <a:t>fisher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when</a:t>
            </a:r>
            <a:r>
              <a:rPr lang="fr-FR" sz="2000" dirty="0">
                <a:latin typeface="Aptos Light" panose="020B0004020202020204" pitchFamily="34" charset="0"/>
              </a:rPr>
              <a:t> N &lt; 5</a:t>
            </a:r>
          </a:p>
          <a:p>
            <a:r>
              <a:rPr lang="fr-FR" sz="2000" dirty="0">
                <a:latin typeface="Aptos Light" panose="020B0004020202020204" pitchFamily="34" charset="0"/>
              </a:rPr>
              <a:t>Binomial </a:t>
            </a:r>
            <a:r>
              <a:rPr lang="fr-FR" sz="2000" dirty="0" err="1">
                <a:latin typeface="Aptos Light" panose="020B0004020202020204" pitchFamily="34" charset="0"/>
              </a:rPr>
              <a:t>regression</a:t>
            </a:r>
            <a:r>
              <a:rPr lang="fr-FR" sz="2000" dirty="0">
                <a:latin typeface="Aptos Light" panose="020B0004020202020204" pitchFamily="34" charset="0"/>
              </a:rPr>
              <a:t> to </a:t>
            </a:r>
            <a:r>
              <a:rPr lang="fr-FR" sz="2000" dirty="0" err="1">
                <a:latin typeface="Aptos Light" panose="020B0004020202020204" pitchFamily="34" charset="0"/>
              </a:rPr>
              <a:t>quantify</a:t>
            </a:r>
            <a:r>
              <a:rPr lang="fr-FR" sz="2000" dirty="0">
                <a:latin typeface="Aptos Light" panose="020B0004020202020204" pitchFamily="34" charset="0"/>
              </a:rPr>
              <a:t> the </a:t>
            </a:r>
            <a:r>
              <a:rPr lang="fr-FR" sz="2000" dirty="0" err="1">
                <a:latin typeface="Aptos Light" panose="020B0004020202020204" pitchFamily="34" charset="0"/>
              </a:rPr>
              <a:t>strength</a:t>
            </a:r>
            <a:r>
              <a:rPr lang="fr-FR" sz="2000" dirty="0">
                <a:latin typeface="Aptos Light" panose="020B0004020202020204" pitchFamily="34" charset="0"/>
              </a:rPr>
              <a:t> of </a:t>
            </a:r>
            <a:r>
              <a:rPr lang="fr-FR" sz="2000" dirty="0" err="1">
                <a:latin typeface="Aptos Light" panose="020B0004020202020204" pitchFamily="34" charset="0"/>
              </a:rPr>
              <a:t>difference</a:t>
            </a:r>
            <a:endParaRPr lang="fr-FR" sz="2000" dirty="0">
              <a:latin typeface="Aptos Light" panose="020B0004020202020204" pitchFamily="34" charset="0"/>
            </a:endParaRPr>
          </a:p>
          <a:p>
            <a:r>
              <a:rPr lang="fr-FR" sz="2000" dirty="0" err="1">
                <a:latin typeface="Aptos Light" panose="020B0004020202020204" pitchFamily="34" charset="0"/>
              </a:rPr>
              <a:t>Presented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with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histogram</a:t>
            </a:r>
            <a:endParaRPr lang="fr-FR" sz="2000" dirty="0">
              <a:latin typeface="Aptos Light" panose="020B0004020202020204" pitchFamily="34" charset="0"/>
            </a:endParaRPr>
          </a:p>
          <a:p>
            <a:endParaRPr lang="fr-FR" sz="2000" dirty="0"/>
          </a:p>
          <a:p>
            <a:r>
              <a:rPr lang="fr-FR" sz="2000" dirty="0" err="1"/>
              <a:t>Results</a:t>
            </a:r>
            <a:r>
              <a:rPr lang="fr-FR" sz="2000" dirty="0"/>
              <a:t>: </a:t>
            </a:r>
            <a:r>
              <a:rPr lang="fr-FR" sz="2000" dirty="0" err="1">
                <a:latin typeface="Aptos Light" panose="020B0004020202020204" pitchFamily="34" charset="0"/>
              </a:rPr>
              <a:t>difference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observed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between</a:t>
            </a:r>
            <a:r>
              <a:rPr lang="fr-FR" sz="2000" dirty="0">
                <a:latin typeface="Aptos Light" panose="020B0004020202020204" pitchFamily="34" charset="0"/>
              </a:rPr>
              <a:t> placebo and ION224</a:t>
            </a:r>
          </a:p>
          <a:p>
            <a:r>
              <a:rPr lang="fr-FR" sz="2000" dirty="0">
                <a:latin typeface="Aptos Light" panose="020B0004020202020204" pitchFamily="34" charset="0"/>
              </a:rPr>
              <a:t>Placebo &lt; ION224 90mg &lt; ION224 120mg</a:t>
            </a:r>
            <a:endParaRPr lang="fr-FR" dirty="0">
              <a:latin typeface="Aptos Light" panose="020B00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9720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AE90F7-D51F-7017-0AAA-183912D03C2E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 err="1"/>
              <a:t>Results</a:t>
            </a:r>
            <a:endParaRPr lang="fr-FR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9B6941-0F2F-D067-ECF5-E1D0E5942516}"/>
              </a:ext>
            </a:extLst>
          </p:cNvPr>
          <p:cNvSpPr/>
          <p:nvPr/>
        </p:nvSpPr>
        <p:spPr>
          <a:xfrm>
            <a:off x="7557247" y="2032246"/>
            <a:ext cx="4167095" cy="4093428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i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FD7699-AE67-77AD-1868-F9593D193B9F}"/>
              </a:ext>
            </a:extLst>
          </p:cNvPr>
          <p:cNvSpPr txBox="1"/>
          <p:nvPr/>
        </p:nvSpPr>
        <p:spPr>
          <a:xfrm>
            <a:off x="7557247" y="2236685"/>
            <a:ext cx="416709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ptos" panose="020B0004020202020204" pitchFamily="34" charset="0"/>
              </a:rPr>
              <a:t>MASH </a:t>
            </a:r>
            <a:r>
              <a:rPr lang="fr-FR" sz="2000" b="1" dirty="0" err="1">
                <a:latin typeface="Aptos" panose="020B0004020202020204" pitchFamily="34" charset="0"/>
              </a:rPr>
              <a:t>resolution</a:t>
            </a:r>
            <a:r>
              <a:rPr lang="fr-FR" sz="2000" b="1" dirty="0">
                <a:latin typeface="Aptos" panose="020B0004020202020204" pitchFamily="34" charset="0"/>
              </a:rPr>
              <a:t> and </a:t>
            </a:r>
            <a:r>
              <a:rPr lang="fr-FR" sz="2000" b="1" dirty="0" err="1">
                <a:latin typeface="Aptos" panose="020B0004020202020204" pitchFamily="34" charset="0"/>
              </a:rPr>
              <a:t>fibrosis</a:t>
            </a:r>
            <a:r>
              <a:rPr lang="fr-FR" sz="2000" b="1" dirty="0">
                <a:latin typeface="Aptos" panose="020B0004020202020204" pitchFamily="34" charset="0"/>
              </a:rPr>
              <a:t> </a:t>
            </a:r>
            <a:r>
              <a:rPr lang="fr-FR" sz="2000" b="1" dirty="0" err="1">
                <a:latin typeface="Aptos" panose="020B0004020202020204" pitchFamily="34" charset="0"/>
              </a:rPr>
              <a:t>improvement</a:t>
            </a:r>
            <a:r>
              <a:rPr lang="fr-FR" sz="2000" b="1" dirty="0">
                <a:latin typeface="Aptos" panose="020B0004020202020204" pitchFamily="34" charset="0"/>
              </a:rPr>
              <a:t> </a:t>
            </a:r>
          </a:p>
          <a:p>
            <a:r>
              <a:rPr lang="fr-FR" sz="2000" dirty="0">
                <a:latin typeface="Aptos" panose="020B0004020202020204" pitchFamily="34" charset="0"/>
              </a:rPr>
              <a:t>For MASH : </a:t>
            </a:r>
            <a:r>
              <a:rPr lang="fr-FR" sz="2000" dirty="0" err="1">
                <a:latin typeface="Aptos" panose="020B0004020202020204" pitchFamily="34" charset="0"/>
              </a:rPr>
              <a:t>Significant</a:t>
            </a:r>
            <a:r>
              <a:rPr lang="fr-FR" sz="2000" dirty="0">
                <a:latin typeface="Aptos" panose="020B0004020202020204" pitchFamily="34" charset="0"/>
              </a:rPr>
              <a:t> for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Aptos" panose="020B0004020202020204" pitchFamily="34" charset="0"/>
              </a:rPr>
              <a:t>90mg</a:t>
            </a: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Aptos" panose="020B0004020202020204" pitchFamily="34" charset="0"/>
              </a:rPr>
              <a:t>Pooled</a:t>
            </a:r>
            <a:r>
              <a:rPr lang="fr-FR" sz="2000" dirty="0">
                <a:latin typeface="Aptos" panose="020B0004020202020204" pitchFamily="34" charset="0"/>
              </a:rPr>
              <a:t> 90 + 120mg</a:t>
            </a:r>
          </a:p>
          <a:p>
            <a:r>
              <a:rPr lang="fr-FR" sz="2000" dirty="0">
                <a:latin typeface="Aptos Light" panose="020B0004020202020204" pitchFamily="34" charset="0"/>
              </a:rPr>
              <a:t>Not </a:t>
            </a:r>
            <a:r>
              <a:rPr lang="fr-FR" sz="2000" dirty="0" err="1">
                <a:latin typeface="Aptos Light" panose="020B0004020202020204" pitchFamily="34" charset="0"/>
              </a:rPr>
              <a:t>significant</a:t>
            </a:r>
            <a:r>
              <a:rPr lang="fr-FR" sz="2000" dirty="0">
                <a:latin typeface="Aptos Light" panose="020B0004020202020204" pitchFamily="34" charset="0"/>
              </a:rPr>
              <a:t> for 120mg</a:t>
            </a:r>
          </a:p>
          <a:p>
            <a:endParaRPr lang="fr-FR" sz="2000" dirty="0">
              <a:latin typeface="Aptos Light" panose="020B0004020202020204" pitchFamily="34" charset="0"/>
            </a:endParaRPr>
          </a:p>
          <a:p>
            <a:r>
              <a:rPr lang="fr-FR" sz="2000" b="1" dirty="0">
                <a:latin typeface="Aptos Light" panose="020B0004020202020204" pitchFamily="34" charset="0"/>
              </a:rPr>
              <a:t>For </a:t>
            </a:r>
            <a:r>
              <a:rPr lang="fr-FR" sz="2000" b="1" dirty="0" err="1">
                <a:latin typeface="Aptos Light" panose="020B0004020202020204" pitchFamily="34" charset="0"/>
              </a:rPr>
              <a:t>fibrosis</a:t>
            </a:r>
            <a:r>
              <a:rPr lang="fr-FR" sz="2000" b="1" dirty="0">
                <a:latin typeface="Aptos Light" panose="020B0004020202020204" pitchFamily="34" charset="0"/>
              </a:rPr>
              <a:t> : </a:t>
            </a:r>
            <a:r>
              <a:rPr lang="fr-FR" sz="2000" b="1" dirty="0" err="1">
                <a:latin typeface="Aptos Light" panose="020B0004020202020204" pitchFamily="34" charset="0"/>
              </a:rPr>
              <a:t>Significant</a:t>
            </a:r>
            <a:r>
              <a:rPr lang="fr-FR" sz="2000" b="1" dirty="0">
                <a:latin typeface="Aptos Light" panose="020B0004020202020204" pitchFamily="34" charset="0"/>
              </a:rPr>
              <a:t> for</a:t>
            </a:r>
          </a:p>
          <a:p>
            <a:pPr marL="342900" indent="-342900">
              <a:buFontTx/>
              <a:buChar char="-"/>
            </a:pPr>
            <a:r>
              <a:rPr lang="fr-FR" sz="2000" b="1" dirty="0">
                <a:latin typeface="Aptos Light" panose="020B0004020202020204" pitchFamily="34" charset="0"/>
              </a:rPr>
              <a:t>120mg</a:t>
            </a:r>
          </a:p>
          <a:p>
            <a:pPr marL="342900" indent="-342900">
              <a:buFontTx/>
              <a:buChar char="-"/>
            </a:pPr>
            <a:r>
              <a:rPr lang="fr-FR" sz="2000" b="1" dirty="0" err="1">
                <a:latin typeface="Aptos Light" panose="020B0004020202020204" pitchFamily="34" charset="0"/>
              </a:rPr>
              <a:t>Pooled</a:t>
            </a:r>
            <a:r>
              <a:rPr lang="fr-FR" sz="2000" b="1" dirty="0">
                <a:latin typeface="Aptos Light" panose="020B0004020202020204" pitchFamily="34" charset="0"/>
              </a:rPr>
              <a:t> 90 + 120mg</a:t>
            </a:r>
          </a:p>
          <a:p>
            <a:r>
              <a:rPr lang="fr-FR" sz="2000" dirty="0">
                <a:latin typeface="Aptos Light" panose="020B0004020202020204" pitchFamily="34" charset="0"/>
              </a:rPr>
              <a:t>Not </a:t>
            </a:r>
            <a:r>
              <a:rPr lang="fr-FR" sz="2000" dirty="0" err="1">
                <a:latin typeface="Aptos Light" panose="020B0004020202020204" pitchFamily="34" charset="0"/>
              </a:rPr>
              <a:t>significant</a:t>
            </a:r>
            <a:r>
              <a:rPr lang="fr-FR" sz="2000" dirty="0">
                <a:latin typeface="Aptos Light" panose="020B0004020202020204" pitchFamily="34" charset="0"/>
              </a:rPr>
              <a:t> for 90mg</a:t>
            </a:r>
          </a:p>
          <a:p>
            <a:endParaRPr lang="fr-FR" sz="2000" dirty="0">
              <a:latin typeface="Aptos Light" panose="020B0004020202020204" pitchFamily="34" charset="0"/>
            </a:endParaRPr>
          </a:p>
        </p:txBody>
      </p:sp>
      <p:pic>
        <p:nvPicPr>
          <p:cNvPr id="3" name="Image 2" descr="Une image contenant texte, capture d’écran, diagramme, Police&#10;&#10;Description générée automatiquement">
            <a:extLst>
              <a:ext uri="{FF2B5EF4-FFF2-40B4-BE49-F238E27FC236}">
                <a16:creationId xmlns:a16="http://schemas.microsoft.com/office/drawing/2014/main" id="{79BA2625-2913-C67F-CAFC-DAA6953EB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08" y="1623798"/>
            <a:ext cx="7280239" cy="470364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6A5C2F5-8D7F-1CB1-E664-613CCC2095A1}"/>
              </a:ext>
            </a:extLst>
          </p:cNvPr>
          <p:cNvSpPr txBox="1"/>
          <p:nvPr/>
        </p:nvSpPr>
        <p:spPr>
          <a:xfrm>
            <a:off x="941294" y="1156447"/>
            <a:ext cx="2298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Secondary</a:t>
            </a:r>
            <a:r>
              <a:rPr lang="fr-FR" dirty="0"/>
              <a:t> </a:t>
            </a:r>
            <a:r>
              <a:rPr lang="fr-FR" dirty="0" err="1"/>
              <a:t>endpoints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157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5F3128-D74F-B6A4-D3BE-7EFA02E53B89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 err="1"/>
              <a:t>Results</a:t>
            </a:r>
            <a:endParaRPr lang="fr-FR" sz="2800" dirty="0"/>
          </a:p>
        </p:txBody>
      </p:sp>
      <p:pic>
        <p:nvPicPr>
          <p:cNvPr id="3" name="Image 2" descr="Une image contenant texte, capture d’écran, diagramme, Parallèle&#10;&#10;Description générée automatiquement">
            <a:extLst>
              <a:ext uri="{FF2B5EF4-FFF2-40B4-BE49-F238E27FC236}">
                <a16:creationId xmlns:a16="http://schemas.microsoft.com/office/drawing/2014/main" id="{F9868148-FE23-4E82-F11D-4740C1AA4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52" y="1154836"/>
            <a:ext cx="4969913" cy="52879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767E65-EA5C-6C33-77CE-6791C9B48EC9}"/>
              </a:ext>
            </a:extLst>
          </p:cNvPr>
          <p:cNvSpPr/>
          <p:nvPr/>
        </p:nvSpPr>
        <p:spPr>
          <a:xfrm>
            <a:off x="5844989" y="1815353"/>
            <a:ext cx="5934159" cy="3966883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i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E0534D-F61A-D859-1859-5095FF87FB30}"/>
              </a:ext>
            </a:extLst>
          </p:cNvPr>
          <p:cNvSpPr txBox="1"/>
          <p:nvPr/>
        </p:nvSpPr>
        <p:spPr>
          <a:xfrm>
            <a:off x="5957048" y="1947972"/>
            <a:ext cx="58221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latin typeface="Aptos" panose="020B0004020202020204" pitchFamily="34" charset="0"/>
              </a:rPr>
              <a:t>Odds</a:t>
            </a:r>
            <a:r>
              <a:rPr lang="fr-FR" sz="2000" dirty="0">
                <a:latin typeface="Aptos" panose="020B0004020202020204" pitchFamily="34" charset="0"/>
              </a:rPr>
              <a:t> ratios (OR) for </a:t>
            </a:r>
            <a:r>
              <a:rPr lang="fr-FR" sz="2000" dirty="0" err="1">
                <a:latin typeface="Aptos" panose="020B0004020202020204" pitchFamily="34" charset="0"/>
              </a:rPr>
              <a:t>achieving</a:t>
            </a:r>
            <a:r>
              <a:rPr lang="fr-FR" sz="2000" dirty="0">
                <a:latin typeface="Aptos" panose="020B0004020202020204" pitchFamily="34" charset="0"/>
              </a:rPr>
              <a:t> ≥50% </a:t>
            </a:r>
            <a:r>
              <a:rPr lang="fr-FR" sz="2000" dirty="0" err="1">
                <a:latin typeface="Aptos" panose="020B0004020202020204" pitchFamily="34" charset="0"/>
              </a:rPr>
              <a:t>reduction</a:t>
            </a:r>
            <a:r>
              <a:rPr lang="fr-FR" sz="2000" dirty="0">
                <a:latin typeface="Aptos" panose="020B0004020202020204" pitchFamily="34" charset="0"/>
              </a:rPr>
              <a:t> in </a:t>
            </a:r>
            <a:r>
              <a:rPr lang="fr-FR" sz="2000" dirty="0" err="1">
                <a:latin typeface="Aptos" panose="020B0004020202020204" pitchFamily="34" charset="0"/>
              </a:rPr>
              <a:t>liver</a:t>
            </a:r>
            <a:r>
              <a:rPr lang="fr-FR" sz="2000" dirty="0">
                <a:latin typeface="Aptos" panose="020B0004020202020204" pitchFamily="34" charset="0"/>
              </a:rPr>
              <a:t> </a:t>
            </a:r>
            <a:r>
              <a:rPr lang="fr-FR" sz="2000" dirty="0" err="1">
                <a:latin typeface="Aptos" panose="020B0004020202020204" pitchFamily="34" charset="0"/>
              </a:rPr>
              <a:t>steatosis</a:t>
            </a:r>
            <a:r>
              <a:rPr lang="fr-FR" sz="2000" dirty="0">
                <a:latin typeface="Aptos" panose="020B0004020202020204" pitchFamily="34" charset="0"/>
              </a:rPr>
              <a:t>:</a:t>
            </a:r>
          </a:p>
          <a:p>
            <a:endParaRPr lang="fr-FR" sz="2000" dirty="0">
              <a:latin typeface="Aptos" panose="020B0004020202020204" pitchFamily="34" charset="0"/>
            </a:endParaRPr>
          </a:p>
          <a:p>
            <a:r>
              <a:rPr lang="fr-FR" sz="2000" dirty="0">
                <a:latin typeface="Aptos Light" panose="020B0004020202020204" pitchFamily="34" charset="0"/>
              </a:rPr>
              <a:t>Day 99: Placebo &lt; ION224 90 mg &lt; ION224 120 mg</a:t>
            </a:r>
          </a:p>
          <a:p>
            <a:r>
              <a:rPr lang="fr-FR" sz="2000" dirty="0">
                <a:latin typeface="Aptos Light" panose="020B0004020202020204" pitchFamily="34" charset="0"/>
              </a:rPr>
              <a:t>Day 351: Placebo &lt; ION224 90 mg &lt; ION224 120 mg</a:t>
            </a:r>
          </a:p>
          <a:p>
            <a:endParaRPr lang="fr-FR" sz="2000" dirty="0">
              <a:latin typeface="Aptos Light" panose="020B0004020202020204" pitchFamily="34" charset="0"/>
            </a:endParaRPr>
          </a:p>
          <a:p>
            <a:r>
              <a:rPr lang="fr-FR" sz="2000" dirty="0">
                <a:latin typeface="Aptos Light" panose="020B0004020202020204" pitchFamily="34" charset="0"/>
              </a:rPr>
              <a:t>The </a:t>
            </a:r>
            <a:r>
              <a:rPr lang="fr-FR" sz="2000" dirty="0" err="1">
                <a:latin typeface="Aptos Light" panose="020B0004020202020204" pitchFamily="34" charset="0"/>
              </a:rPr>
              <a:t>effect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increased</a:t>
            </a:r>
            <a:r>
              <a:rPr lang="fr-FR" sz="2000" dirty="0">
                <a:latin typeface="Aptos Light" panose="020B0004020202020204" pitchFamily="34" charset="0"/>
              </a:rPr>
              <a:t> over time, </a:t>
            </a:r>
            <a:r>
              <a:rPr lang="fr-FR" sz="2000" dirty="0" err="1">
                <a:latin typeface="Aptos Light" panose="020B0004020202020204" pitchFamily="34" charset="0"/>
              </a:rPr>
              <a:t>with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higher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odds</a:t>
            </a:r>
            <a:r>
              <a:rPr lang="fr-FR" sz="2000" dirty="0">
                <a:latin typeface="Aptos Light" panose="020B0004020202020204" pitchFamily="34" charset="0"/>
              </a:rPr>
              <a:t> at Day 351 </a:t>
            </a:r>
            <a:r>
              <a:rPr lang="fr-FR" sz="2000" dirty="0" err="1">
                <a:latin typeface="Aptos Light" panose="020B0004020202020204" pitchFamily="34" charset="0"/>
              </a:rPr>
              <a:t>compared</a:t>
            </a:r>
            <a:r>
              <a:rPr lang="fr-FR" sz="2000" dirty="0">
                <a:latin typeface="Aptos Light" panose="020B0004020202020204" pitchFamily="34" charset="0"/>
              </a:rPr>
              <a:t> to Day 99.</a:t>
            </a:r>
          </a:p>
          <a:p>
            <a:endParaRPr lang="fr-FR" sz="2000" dirty="0">
              <a:latin typeface="Aptos Light" panose="020B0004020202020204" pitchFamily="34" charset="0"/>
            </a:endParaRPr>
          </a:p>
          <a:p>
            <a:pPr marL="342900" indent="-342900">
              <a:buFont typeface="Wingdings" pitchFamily="2" charset="2"/>
              <a:buChar char="à"/>
            </a:pPr>
            <a:r>
              <a:rPr lang="fr-FR" sz="2000" dirty="0">
                <a:latin typeface="Aptos Light" panose="020B0004020202020204" pitchFamily="34" charset="0"/>
                <a:sym typeface="Wingdings" pitchFamily="2" charset="2"/>
              </a:rPr>
              <a:t>Dose </a:t>
            </a:r>
            <a:r>
              <a:rPr lang="fr-FR" sz="2000" dirty="0" err="1">
                <a:latin typeface="Aptos Light" panose="020B0004020202020204" pitchFamily="34" charset="0"/>
                <a:sym typeface="Wingdings" pitchFamily="2" charset="2"/>
              </a:rPr>
              <a:t>effect</a:t>
            </a:r>
            <a:endParaRPr lang="fr-FR" sz="2000" dirty="0">
              <a:latin typeface="Aptos Light" panose="020B0004020202020204" pitchFamily="34" charset="0"/>
              <a:sym typeface="Wingdings" pitchFamily="2" charset="2"/>
            </a:endParaRPr>
          </a:p>
          <a:p>
            <a:pPr marL="342900" indent="-342900">
              <a:buFont typeface="Wingdings" pitchFamily="2" charset="2"/>
              <a:buChar char="à"/>
            </a:pPr>
            <a:r>
              <a:rPr lang="fr-FR" sz="2000" dirty="0">
                <a:latin typeface="Aptos Light" panose="020B0004020202020204" pitchFamily="34" charset="0"/>
                <a:sym typeface="Wingdings" pitchFamily="2" charset="2"/>
              </a:rPr>
              <a:t>Time </a:t>
            </a:r>
            <a:r>
              <a:rPr lang="fr-FR" sz="2000" dirty="0" err="1">
                <a:latin typeface="Aptos Light" panose="020B0004020202020204" pitchFamily="34" charset="0"/>
                <a:sym typeface="Wingdings" pitchFamily="2" charset="2"/>
              </a:rPr>
              <a:t>effect</a:t>
            </a:r>
            <a:endParaRPr lang="fr-FR" sz="2000" dirty="0">
              <a:latin typeface="Aptos Light" panose="020B0004020202020204" pitchFamily="34" charset="0"/>
            </a:endParaRPr>
          </a:p>
          <a:p>
            <a:endParaRPr lang="fr-FR" sz="20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2E8F6A7-DCA5-D502-8B88-66BF7287C459}"/>
              </a:ext>
            </a:extLst>
          </p:cNvPr>
          <p:cNvSpPr txBox="1"/>
          <p:nvPr/>
        </p:nvSpPr>
        <p:spPr>
          <a:xfrm>
            <a:off x="1183341" y="960719"/>
            <a:ext cx="2298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Secondary</a:t>
            </a:r>
            <a:r>
              <a:rPr lang="fr-FR" dirty="0"/>
              <a:t> </a:t>
            </a:r>
            <a:r>
              <a:rPr lang="fr-FR" dirty="0" err="1"/>
              <a:t>endpoints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4403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1543E-CDD7-D7B8-D1CB-E354C1A5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697487-94A8-9B60-CC2D-014FFC570E00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 err="1"/>
              <a:t>Results</a:t>
            </a:r>
            <a:endParaRPr lang="fr-FR" sz="2800" dirty="0"/>
          </a:p>
        </p:txBody>
      </p:sp>
      <p:pic>
        <p:nvPicPr>
          <p:cNvPr id="3" name="Image 2" descr="Une image contenant texte, diagramme, capture d’écran, ligne&#10;&#10;Description générée automatiquement">
            <a:extLst>
              <a:ext uri="{FF2B5EF4-FFF2-40B4-BE49-F238E27FC236}">
                <a16:creationId xmlns:a16="http://schemas.microsoft.com/office/drawing/2014/main" id="{92D0F9CC-D637-70C6-1C88-42954225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826"/>
          <a:stretch/>
        </p:blipFill>
        <p:spPr>
          <a:xfrm>
            <a:off x="1035423" y="1022852"/>
            <a:ext cx="3079377" cy="3228711"/>
          </a:xfrm>
          <a:prstGeom prst="rect">
            <a:avLst/>
          </a:prstGeom>
        </p:spPr>
      </p:pic>
      <p:pic>
        <p:nvPicPr>
          <p:cNvPr id="6" name="Image 5" descr="Une image contenant texte, diagramme, capture d’écran, ligne&#10;&#10;Description générée automatiquement">
            <a:extLst>
              <a:ext uri="{FF2B5EF4-FFF2-40B4-BE49-F238E27FC236}">
                <a16:creationId xmlns:a16="http://schemas.microsoft.com/office/drawing/2014/main" id="{46B61C90-CF8C-DEDE-A69D-D91BD9AAD8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21"/>
          <a:stretch/>
        </p:blipFill>
        <p:spPr>
          <a:xfrm>
            <a:off x="430305" y="4073077"/>
            <a:ext cx="5042647" cy="27849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3B4380-5465-50CE-2386-FB061F1E0AC3}"/>
              </a:ext>
            </a:extLst>
          </p:cNvPr>
          <p:cNvSpPr/>
          <p:nvPr/>
        </p:nvSpPr>
        <p:spPr>
          <a:xfrm>
            <a:off x="5844989" y="1815353"/>
            <a:ext cx="5934159" cy="3966883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i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351CB68-D1B2-821A-CD27-205E13AEC677}"/>
              </a:ext>
            </a:extLst>
          </p:cNvPr>
          <p:cNvSpPr txBox="1"/>
          <p:nvPr/>
        </p:nvSpPr>
        <p:spPr>
          <a:xfrm>
            <a:off x="5957048" y="1947972"/>
            <a:ext cx="5822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ptos" panose="020B0004020202020204" pitchFamily="34" charset="0"/>
              </a:rPr>
              <a:t>PEP and SEP </a:t>
            </a:r>
            <a:r>
              <a:rPr lang="fr-FR" sz="2000" dirty="0" err="1">
                <a:latin typeface="Aptos" panose="020B0004020202020204" pitchFamily="34" charset="0"/>
              </a:rPr>
              <a:t>still</a:t>
            </a:r>
            <a:r>
              <a:rPr lang="fr-FR" sz="2000" dirty="0">
                <a:latin typeface="Aptos" panose="020B0004020202020204" pitchFamily="34" charset="0"/>
              </a:rPr>
              <a:t> significative in ITT </a:t>
            </a:r>
            <a:r>
              <a:rPr lang="fr-FR" sz="2000" dirty="0" err="1">
                <a:latin typeface="Aptos" panose="020B0004020202020204" pitchFamily="34" charset="0"/>
              </a:rPr>
              <a:t>analysis</a:t>
            </a:r>
            <a:endParaRPr lang="fr-FR" sz="2000" dirty="0">
              <a:latin typeface="Aptos" panose="020B0004020202020204" pitchFamily="34" charset="0"/>
            </a:endParaRPr>
          </a:p>
          <a:p>
            <a:endParaRPr lang="fr-FR" sz="2000" dirty="0">
              <a:latin typeface="Aptos" panose="020B0004020202020204" pitchFamily="34" charset="0"/>
            </a:endParaRPr>
          </a:p>
          <a:p>
            <a:r>
              <a:rPr lang="fr-FR" sz="2000" dirty="0" err="1">
                <a:latin typeface="Aptos Light" panose="020B0004020202020204" pitchFamily="34" charset="0"/>
              </a:rPr>
              <a:t>Missing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liver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biopsy</a:t>
            </a:r>
            <a:r>
              <a:rPr lang="fr-FR" sz="2000" dirty="0">
                <a:latin typeface="Aptos Light" panose="020B0004020202020204" pitchFamily="34" charset="0"/>
              </a:rPr>
              <a:t> data </a:t>
            </a:r>
            <a:r>
              <a:rPr lang="fr-FR" sz="2000" dirty="0" err="1">
                <a:latin typeface="Aptos Light" panose="020B0004020202020204" pitchFamily="34" charset="0"/>
              </a:rPr>
              <a:t>were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imputed</a:t>
            </a:r>
            <a:r>
              <a:rPr lang="fr-FR" sz="2000" dirty="0"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latin typeface="Aptos Light" panose="020B0004020202020204" pitchFamily="34" charset="0"/>
              </a:rPr>
              <a:t>using</a:t>
            </a:r>
            <a:r>
              <a:rPr lang="fr-FR" sz="2000" dirty="0">
                <a:latin typeface="Aptos Light" panose="020B0004020202020204" pitchFamily="34" charset="0"/>
              </a:rPr>
              <a:t> J2R, </a:t>
            </a:r>
            <a:r>
              <a:rPr lang="fr-FR" sz="2000" dirty="0" err="1">
                <a:latin typeface="Aptos Light" panose="020B0004020202020204" pitchFamily="34" charset="0"/>
              </a:rPr>
              <a:t>assuming</a:t>
            </a:r>
            <a:r>
              <a:rPr lang="fr-FR" sz="2000" dirty="0">
                <a:latin typeface="Aptos Light" panose="020B0004020202020204" pitchFamily="34" charset="0"/>
              </a:rPr>
              <a:t> a placebo-like </a:t>
            </a:r>
            <a:r>
              <a:rPr lang="fr-FR" sz="2000" dirty="0" err="1">
                <a:latin typeface="Aptos Light" panose="020B0004020202020204" pitchFamily="34" charset="0"/>
              </a:rPr>
              <a:t>response</a:t>
            </a:r>
            <a:r>
              <a:rPr lang="fr-FR" sz="2000" dirty="0">
                <a:latin typeface="Aptos Light" panose="020B0004020202020204" pitchFamily="34" charset="0"/>
              </a:rPr>
              <a:t>.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003493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08CE9-5787-B932-A006-67D1704B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340B1-742B-0126-DB86-9F955C5D4DE1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 err="1"/>
              <a:t>Results</a:t>
            </a:r>
            <a:endParaRPr lang="fr-FR" sz="28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7E44416-0ADF-1A18-9F49-81C8516A1EB4}"/>
              </a:ext>
            </a:extLst>
          </p:cNvPr>
          <p:cNvSpPr txBox="1"/>
          <p:nvPr/>
        </p:nvSpPr>
        <p:spPr>
          <a:xfrm>
            <a:off x="484094" y="1200772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latin typeface="Aptos" panose="020B0004020202020204" pitchFamily="34" charset="0"/>
              </a:rPr>
              <a:t>Safety</a:t>
            </a:r>
            <a:r>
              <a:rPr lang="fr-FR" sz="2000" dirty="0">
                <a:latin typeface="Aptos" panose="020B0004020202020204" pitchFamily="34" charset="0"/>
              </a:rPr>
              <a:t> </a:t>
            </a:r>
            <a:r>
              <a:rPr lang="fr-FR" sz="2000" dirty="0" err="1">
                <a:latin typeface="Aptos" panose="020B0004020202020204" pitchFamily="34" charset="0"/>
              </a:rPr>
              <a:t>analysis</a:t>
            </a:r>
            <a:endParaRPr lang="fr-FR" sz="2000" dirty="0">
              <a:latin typeface="Aptos" panose="020B0004020202020204" pitchFamily="34" charset="0"/>
            </a:endParaRPr>
          </a:p>
          <a:p>
            <a:endParaRPr lang="fr-FR" sz="2000" dirty="0"/>
          </a:p>
        </p:txBody>
      </p:sp>
      <p:pic>
        <p:nvPicPr>
          <p:cNvPr id="5" name="Image 4" descr="Une image contenant texte, capture d’écran, menu, nombre&#10;&#10;Description générée automatiquement">
            <a:extLst>
              <a:ext uri="{FF2B5EF4-FFF2-40B4-BE49-F238E27FC236}">
                <a16:creationId xmlns:a16="http://schemas.microsoft.com/office/drawing/2014/main" id="{7004DCCE-6095-8B3D-5F6D-FD9711662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576" y="844010"/>
            <a:ext cx="7180253" cy="581940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0314FA-F9B0-39E6-9048-C7707744BBA7}"/>
              </a:ext>
            </a:extLst>
          </p:cNvPr>
          <p:cNvSpPr/>
          <p:nvPr/>
        </p:nvSpPr>
        <p:spPr>
          <a:xfrm>
            <a:off x="332171" y="1908659"/>
            <a:ext cx="4179571" cy="2541421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Comparable AE rates vs placebo (94% vs 89%); </a:t>
            </a:r>
            <a:b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</a:b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mostly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mild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-to-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moderate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injection site 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reactions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</a:t>
            </a:r>
          </a:p>
          <a:p>
            <a:endParaRPr lang="fr-FR" sz="1600" dirty="0">
              <a:solidFill>
                <a:schemeClr val="tx1"/>
              </a:solidFill>
              <a:latin typeface="Aptos" panose="020B0004020202020204" pitchFamily="34" charset="0"/>
              <a:cs typeface="Calibri Light" panose="020F0302020204030204" pitchFamily="34" charset="0"/>
            </a:endParaRPr>
          </a:p>
          <a:p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No 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deaths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or 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treatment-related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serious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adverse 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events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(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SAEs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)</a:t>
            </a:r>
          </a:p>
          <a:p>
            <a:endParaRPr lang="fr-FR" sz="1600" dirty="0">
              <a:solidFill>
                <a:schemeClr val="tx1"/>
              </a:solidFill>
              <a:latin typeface="Aptos" panose="020B0004020202020204" pitchFamily="34" charset="0"/>
              <a:cs typeface="Calibri Light" panose="020F0302020204030204" pitchFamily="34" charset="0"/>
            </a:endParaRPr>
          </a:p>
          <a:p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No 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hypertriglyceridemia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or 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worsening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of </a:t>
            </a:r>
            <a:r>
              <a:rPr lang="fr-FR" sz="1600" dirty="0" err="1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lipid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 profile</a:t>
            </a:r>
          </a:p>
        </p:txBody>
      </p:sp>
    </p:spTree>
    <p:extLst>
      <p:ext uri="{BB962C8B-B14F-4D97-AF65-F5344CB8AC3E}">
        <p14:creationId xmlns:p14="http://schemas.microsoft.com/office/powerpoint/2010/main" val="392076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86C93-A420-70E4-A833-C258223A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090934-6F9F-4507-3DA8-D22F43558E7D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/>
              <a:t>Discussion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C2CCB9-8747-D4E3-90FC-6BE71BD01E75}"/>
              </a:ext>
            </a:extLst>
          </p:cNvPr>
          <p:cNvSpPr/>
          <p:nvPr/>
        </p:nvSpPr>
        <p:spPr>
          <a:xfrm>
            <a:off x="739588" y="1425388"/>
            <a:ext cx="4921624" cy="4679577"/>
          </a:xfrm>
          <a:prstGeom prst="rect">
            <a:avLst/>
          </a:prstGeom>
          <a:solidFill>
            <a:srgbClr val="0DA1DE">
              <a:alpha val="1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err="1">
                <a:solidFill>
                  <a:schemeClr val="tx1"/>
                </a:solidFill>
              </a:rPr>
              <a:t>Strengths</a:t>
            </a:r>
            <a:r>
              <a:rPr lang="fr-FR" sz="2000" dirty="0">
                <a:solidFill>
                  <a:schemeClr val="tx1"/>
                </a:solidFill>
              </a:rPr>
              <a:t> of the trial:</a:t>
            </a:r>
          </a:p>
          <a:p>
            <a:pPr algn="ctr"/>
            <a:endParaRPr lang="fr-FR" sz="2000" dirty="0">
              <a:solidFill>
                <a:schemeClr val="tx1"/>
              </a:solidFill>
            </a:endParaRPr>
          </a:p>
          <a:p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-Adaptative design</a:t>
            </a:r>
          </a:p>
          <a:p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-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Randomized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trial, </a:t>
            </a:r>
          </a:p>
          <a:p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-Clear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methodology</a:t>
            </a:r>
            <a:endParaRPr lang="fr-FR" sz="2000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-Objective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endpoints</a:t>
            </a:r>
            <a:endParaRPr lang="fr-FR" sz="2000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-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Statistically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significant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effect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despite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small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sample</a:t>
            </a:r>
            <a:endParaRPr lang="fr-FR" sz="2000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- Dose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dependent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effect</a:t>
            </a:r>
            <a:endParaRPr lang="fr-FR" sz="2000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pPr algn="ctr"/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49072-C05F-4DE9-4DDE-DB5633DA6429}"/>
              </a:ext>
            </a:extLst>
          </p:cNvPr>
          <p:cNvSpPr/>
          <p:nvPr/>
        </p:nvSpPr>
        <p:spPr>
          <a:xfrm>
            <a:off x="6096000" y="1425388"/>
            <a:ext cx="5199529" cy="4679577"/>
          </a:xfrm>
          <a:prstGeom prst="rect">
            <a:avLst/>
          </a:prstGeom>
          <a:solidFill>
            <a:srgbClr val="C0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Key limitations of the trial:</a:t>
            </a:r>
          </a:p>
          <a:p>
            <a:endParaRPr lang="fr-FR" sz="1400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-Small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sample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size →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insufficient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power for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registrational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endpoints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(MASH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resolution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,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fibrosis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improvement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) </a:t>
            </a:r>
            <a:r>
              <a:rPr lang="fr-FR" sz="2000" i="1" dirty="0">
                <a:solidFill>
                  <a:schemeClr val="tx1"/>
                </a:solidFill>
                <a:latin typeface="Aptos Light" panose="020B0004020202020204" pitchFamily="34" charset="0"/>
                <a:sym typeface="Wingdings" pitchFamily="2" charset="2"/>
              </a:rPr>
              <a:t> But </a:t>
            </a:r>
            <a:r>
              <a:rPr lang="fr-FR" sz="2000" i="1" dirty="0" err="1">
                <a:solidFill>
                  <a:schemeClr val="tx1"/>
                </a:solidFill>
                <a:latin typeface="Aptos Light" panose="020B0004020202020204" pitchFamily="34" charset="0"/>
                <a:sym typeface="Wingdings" pitchFamily="2" charset="2"/>
              </a:rPr>
              <a:t>only</a:t>
            </a:r>
            <a:r>
              <a:rPr lang="fr-FR" sz="2000" i="1" dirty="0">
                <a:solidFill>
                  <a:schemeClr val="tx1"/>
                </a:solidFill>
                <a:latin typeface="Aptos Light" panose="020B0004020202020204" pitchFamily="34" charset="0"/>
                <a:sym typeface="Wingdings" pitchFamily="2" charset="2"/>
              </a:rPr>
              <a:t> a phase 2</a:t>
            </a:r>
            <a:endParaRPr lang="fr-FR" sz="2000" i="1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- 23% of participants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excluded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from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per-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protocol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analysis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(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missing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biopsy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or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other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reasons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) </a:t>
            </a:r>
            <a:r>
              <a:rPr lang="fr-FR" sz="2000" i="1" dirty="0">
                <a:solidFill>
                  <a:schemeClr val="tx1"/>
                </a:solidFill>
                <a:latin typeface="Aptos Light" panose="020B0004020202020204" pitchFamily="34" charset="0"/>
                <a:sym typeface="Wingdings" pitchFamily="2" charset="2"/>
              </a:rPr>
              <a:t> But </a:t>
            </a:r>
            <a:r>
              <a:rPr lang="fr-FR" sz="2000" i="1" dirty="0" err="1">
                <a:solidFill>
                  <a:schemeClr val="tx1"/>
                </a:solidFill>
                <a:latin typeface="Aptos Light" panose="020B0004020202020204" pitchFamily="34" charset="0"/>
                <a:sym typeface="Wingdings" pitchFamily="2" charset="2"/>
              </a:rPr>
              <a:t>still</a:t>
            </a:r>
            <a:r>
              <a:rPr lang="fr-FR" sz="2000" i="1" dirty="0">
                <a:solidFill>
                  <a:schemeClr val="tx1"/>
                </a:solidFill>
                <a:latin typeface="Aptos Light" panose="020B0004020202020204" pitchFamily="34" charset="0"/>
                <a:sym typeface="Wingdings" pitchFamily="2" charset="2"/>
              </a:rPr>
              <a:t> </a:t>
            </a:r>
            <a:r>
              <a:rPr lang="fr-FR" sz="2000" i="1" dirty="0" err="1">
                <a:solidFill>
                  <a:schemeClr val="tx1"/>
                </a:solidFill>
                <a:latin typeface="Aptos Light" panose="020B0004020202020204" pitchFamily="34" charset="0"/>
                <a:sym typeface="Wingdings" pitchFamily="2" charset="2"/>
              </a:rPr>
              <a:t>signif</a:t>
            </a:r>
            <a:r>
              <a:rPr lang="fr-FR" sz="2000" i="1" dirty="0">
                <a:solidFill>
                  <a:schemeClr val="tx1"/>
                </a:solidFill>
                <a:latin typeface="Aptos Light" panose="020B0004020202020204" pitchFamily="34" charset="0"/>
                <a:sym typeface="Wingdings" pitchFamily="2" charset="2"/>
              </a:rPr>
              <a:t> in ITT</a:t>
            </a:r>
            <a:endParaRPr lang="fr-FR" sz="2000" i="1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-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Study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duration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limited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to 1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year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→ long-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term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histology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/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outcomes</a:t>
            </a:r>
            <a:r>
              <a:rPr lang="fr-FR" sz="2000" dirty="0">
                <a:solidFill>
                  <a:schemeClr val="tx1"/>
                </a:solidFill>
                <a:latin typeface="Aptos Light" panose="020B0004020202020204" pitchFamily="34" charset="0"/>
              </a:rPr>
              <a:t> not </a:t>
            </a:r>
            <a:r>
              <a:rPr lang="fr-FR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assessed</a:t>
            </a:r>
            <a:endParaRPr lang="fr-FR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10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719B-6966-121E-1058-D3F103F7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B83295-504E-55FB-9ED1-F0B9C0DFF803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800" dirty="0"/>
              <a:t>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C589F7-6EEF-BAA2-A982-68F7A1AFEE0F}"/>
              </a:ext>
            </a:extLst>
          </p:cNvPr>
          <p:cNvSpPr/>
          <p:nvPr/>
        </p:nvSpPr>
        <p:spPr>
          <a:xfrm>
            <a:off x="643455" y="2450933"/>
            <a:ext cx="10905089" cy="2649071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</a:rPr>
              <a:t>ION224-mediated DGAT2 inhibition leads to </a:t>
            </a:r>
            <a:r>
              <a:rPr lang="fr-FR" sz="2400" dirty="0" err="1">
                <a:solidFill>
                  <a:schemeClr val="tx1"/>
                </a:solidFill>
              </a:rPr>
              <a:t>histological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improvements</a:t>
            </a:r>
            <a:r>
              <a:rPr lang="fr-FR" sz="2400" dirty="0">
                <a:solidFill>
                  <a:schemeClr val="tx1"/>
                </a:solidFill>
              </a:rPr>
              <a:t>, MASH </a:t>
            </a:r>
            <a:r>
              <a:rPr lang="fr-FR" sz="2400" dirty="0" err="1">
                <a:solidFill>
                  <a:schemeClr val="tx1"/>
                </a:solidFill>
              </a:rPr>
              <a:t>resolution</a:t>
            </a:r>
            <a:r>
              <a:rPr lang="fr-FR" sz="2400" dirty="0">
                <a:solidFill>
                  <a:schemeClr val="tx1"/>
                </a:solidFill>
              </a:rPr>
              <a:t>, and time-</a:t>
            </a:r>
            <a:r>
              <a:rPr lang="fr-FR" sz="2400" dirty="0" err="1">
                <a:solidFill>
                  <a:schemeClr val="tx1"/>
                </a:solidFill>
              </a:rPr>
              <a:t>dependent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reduction</a:t>
            </a:r>
            <a:r>
              <a:rPr lang="fr-FR" sz="2400" dirty="0">
                <a:solidFill>
                  <a:schemeClr val="tx1"/>
                </a:solidFill>
              </a:rPr>
              <a:t> in </a:t>
            </a:r>
            <a:r>
              <a:rPr lang="fr-FR" sz="2400" dirty="0" err="1">
                <a:solidFill>
                  <a:schemeClr val="tx1"/>
                </a:solidFill>
              </a:rPr>
              <a:t>hepatic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steatosis</a:t>
            </a:r>
            <a:r>
              <a:rPr lang="fr-FR" sz="2400" dirty="0">
                <a:solidFill>
                  <a:schemeClr val="tx1"/>
                </a:solidFill>
              </a:rPr>
              <a:t>, </a:t>
            </a:r>
            <a:r>
              <a:rPr lang="fr-FR" sz="2400" dirty="0" err="1">
                <a:solidFill>
                  <a:schemeClr val="tx1"/>
                </a:solidFill>
              </a:rPr>
              <a:t>with</a:t>
            </a:r>
            <a:r>
              <a:rPr lang="fr-FR" sz="2400" dirty="0">
                <a:solidFill>
                  <a:schemeClr val="tx1"/>
                </a:solidFill>
              </a:rPr>
              <a:t> a favorable </a:t>
            </a:r>
            <a:r>
              <a:rPr lang="fr-FR" sz="2400" dirty="0" err="1">
                <a:solidFill>
                  <a:schemeClr val="tx1"/>
                </a:solidFill>
              </a:rPr>
              <a:t>safety</a:t>
            </a:r>
            <a:r>
              <a:rPr lang="fr-FR" sz="2400" dirty="0">
                <a:solidFill>
                  <a:schemeClr val="tx1"/>
                </a:solidFill>
              </a:rPr>
              <a:t> profile.</a:t>
            </a:r>
            <a:endParaRPr lang="fr-FR" sz="2400" dirty="0">
              <a:solidFill>
                <a:schemeClr val="tx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900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4711</TotalTime>
  <Words>654</Words>
  <Application>Microsoft Macintosh PowerPoint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Aptos Light</vt:lpstr>
      <vt:lpstr>Arial</vt:lpstr>
      <vt:lpstr>Calibri Light</vt:lpstr>
      <vt:lpstr>ScalaLancetPro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Alix DHOTE</dc:creator>
  <cp:lastModifiedBy>Thomas Husson</cp:lastModifiedBy>
  <cp:revision>29</cp:revision>
  <dcterms:created xsi:type="dcterms:W3CDTF">2025-11-25T10:29:56Z</dcterms:created>
  <dcterms:modified xsi:type="dcterms:W3CDTF">2025-12-12T09:52:42Z</dcterms:modified>
</cp:coreProperties>
</file>