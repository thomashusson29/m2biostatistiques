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9" r:id="rId3"/>
    <p:sldId id="262" r:id="rId4"/>
    <p:sldId id="263" r:id="rId5"/>
    <p:sldId id="271" r:id="rId6"/>
    <p:sldId id="272" r:id="rId7"/>
    <p:sldId id="264" r:id="rId8"/>
    <p:sldId id="265" r:id="rId9"/>
    <p:sldId id="266" r:id="rId10"/>
    <p:sldId id="280" r:id="rId11"/>
    <p:sldId id="267" r:id="rId12"/>
    <p:sldId id="268" r:id="rId13"/>
    <p:sldId id="269" r:id="rId14"/>
    <p:sldId id="270" r:id="rId15"/>
    <p:sldId id="274" r:id="rId16"/>
    <p:sldId id="273" r:id="rId17"/>
    <p:sldId id="275" r:id="rId18"/>
    <p:sldId id="276" r:id="rId19"/>
    <p:sldId id="277" r:id="rId20"/>
    <p:sldId id="278" r:id="rId21"/>
    <p:sldId id="279" r:id="rId2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17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53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8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61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08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24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971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611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763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050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272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266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Nombre de sujets nécessaires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Bruno Falissard</a:t>
            </a:r>
          </a:p>
          <a:p>
            <a:r>
              <a:rPr lang="fr-FR" dirty="0"/>
              <a:t>(Université Paris-Saclay)</a:t>
            </a:r>
          </a:p>
        </p:txBody>
      </p:sp>
    </p:spTree>
    <p:extLst>
      <p:ext uri="{BB962C8B-B14F-4D97-AF65-F5344CB8AC3E}">
        <p14:creationId xmlns:p14="http://schemas.microsoft.com/office/powerpoint/2010/main" val="37337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Nombre de sujets nécessaires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 algn="ctr">
              <a:buNone/>
            </a:pPr>
            <a:r>
              <a:rPr lang="fr-FR" sz="4400" dirty="0"/>
              <a:t>Rien à voir avec les </a:t>
            </a:r>
            <a:r>
              <a:rPr lang="fr-FR" sz="4400" dirty="0" err="1"/>
              <a:t>stats</a:t>
            </a:r>
            <a:r>
              <a:rPr lang="fr-FR" sz="4400" dirty="0"/>
              <a:t> !</a:t>
            </a:r>
          </a:p>
          <a:p>
            <a:pPr marL="0" indent="0" algn="ctr">
              <a:buNone/>
            </a:pPr>
            <a:r>
              <a:rPr lang="fr-FR" sz="2400" dirty="0"/>
              <a:t>(un peu quand même…)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508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descriptive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453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descriptive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Précision d’un pourcentage (prévalence)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2013858" y="3042557"/>
                <a:ext cx="4310744" cy="5963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=±1.96</m:t>
                      </m:r>
                      <m:rad>
                        <m:radPr>
                          <m:degHide m:val="on"/>
                          <m:ctrlPr>
                            <a:rPr lang="fr-F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fr-F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fr-F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858" y="3042557"/>
                <a:ext cx="4310744" cy="5963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86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descriptive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Précision d’un pourcentage (prévalence)</a:t>
            </a:r>
          </a:p>
          <a:p>
            <a:pPr lvl="1"/>
            <a:r>
              <a:rPr lang="fr-FR" dirty="0"/>
              <a:t>p = 0.2</a:t>
            </a:r>
          </a:p>
          <a:p>
            <a:pPr lvl="1"/>
            <a:r>
              <a:rPr lang="fr-FR" dirty="0"/>
              <a:t>n = 1000 </a:t>
            </a:r>
          </a:p>
        </p:txBody>
      </p:sp>
    </p:spTree>
    <p:extLst>
      <p:ext uri="{BB962C8B-B14F-4D97-AF65-F5344CB8AC3E}">
        <p14:creationId xmlns:p14="http://schemas.microsoft.com/office/powerpoint/2010/main" val="3890470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descriptive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Précision d’un pourcentage (prévalence)</a:t>
            </a:r>
          </a:p>
          <a:p>
            <a:pPr lvl="1"/>
            <a:r>
              <a:rPr lang="fr-FR" dirty="0"/>
              <a:t>Oui il faut parier sur p !</a:t>
            </a:r>
          </a:p>
          <a:p>
            <a:pPr lvl="1"/>
            <a:r>
              <a:rPr lang="fr-FR" dirty="0"/>
              <a:t>Attention aux plans de sondage en grappe… </a:t>
            </a:r>
          </a:p>
        </p:txBody>
      </p:sp>
    </p:spTree>
    <p:extLst>
      <p:ext uri="{BB962C8B-B14F-4D97-AF65-F5344CB8AC3E}">
        <p14:creationId xmlns:p14="http://schemas.microsoft.com/office/powerpoint/2010/main" val="50756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analytique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818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analytique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Précision d’un OR</a:t>
            </a:r>
          </a:p>
        </p:txBody>
      </p:sp>
    </p:spTree>
    <p:extLst>
      <p:ext uri="{BB962C8B-B14F-4D97-AF65-F5344CB8AC3E}">
        <p14:creationId xmlns:p14="http://schemas.microsoft.com/office/powerpoint/2010/main" val="120100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analytique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Précision d’un OR</a:t>
            </a:r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764521"/>
              </p:ext>
            </p:extLst>
          </p:nvPr>
        </p:nvGraphicFramePr>
        <p:xfrm>
          <a:off x="1001487" y="2786482"/>
          <a:ext cx="3570513" cy="2429624"/>
        </p:xfrm>
        <a:graphic>
          <a:graphicData uri="http://schemas.openxmlformats.org/drawingml/2006/table">
            <a:tbl>
              <a:tblPr firstRow="1" bandRow="1"/>
              <a:tblGrid>
                <a:gridCol w="1190171">
                  <a:extLst>
                    <a:ext uri="{9D8B030D-6E8A-4147-A177-3AD203B41FA5}">
                      <a16:colId xmlns:a16="http://schemas.microsoft.com/office/drawing/2014/main" val="2920466829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2535522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092266194"/>
                    </a:ext>
                  </a:extLst>
                </a:gridCol>
              </a:tblGrid>
              <a:tr h="60740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Tém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29924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20525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N. </a:t>
                      </a:r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443389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970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3847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analytique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Précision d’un OR</a:t>
            </a:r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354570"/>
              </p:ext>
            </p:extLst>
          </p:nvPr>
        </p:nvGraphicFramePr>
        <p:xfrm>
          <a:off x="1001487" y="2786482"/>
          <a:ext cx="3570513" cy="2429624"/>
        </p:xfrm>
        <a:graphic>
          <a:graphicData uri="http://schemas.openxmlformats.org/drawingml/2006/table">
            <a:tbl>
              <a:tblPr firstRow="1" bandRow="1"/>
              <a:tblGrid>
                <a:gridCol w="1190171">
                  <a:extLst>
                    <a:ext uri="{9D8B030D-6E8A-4147-A177-3AD203B41FA5}">
                      <a16:colId xmlns:a16="http://schemas.microsoft.com/office/drawing/2014/main" val="2920466829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2535522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092266194"/>
                    </a:ext>
                  </a:extLst>
                </a:gridCol>
              </a:tblGrid>
              <a:tr h="60740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Tém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29924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20525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N. </a:t>
                      </a:r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443389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970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917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analytique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/>
              <a:t>Précision d’un OR</a:t>
            </a:r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354570"/>
              </p:ext>
            </p:extLst>
          </p:nvPr>
        </p:nvGraphicFramePr>
        <p:xfrm>
          <a:off x="1001487" y="2786482"/>
          <a:ext cx="3570513" cy="2429624"/>
        </p:xfrm>
        <a:graphic>
          <a:graphicData uri="http://schemas.openxmlformats.org/drawingml/2006/table">
            <a:tbl>
              <a:tblPr firstRow="1" bandRow="1"/>
              <a:tblGrid>
                <a:gridCol w="1190171">
                  <a:extLst>
                    <a:ext uri="{9D8B030D-6E8A-4147-A177-3AD203B41FA5}">
                      <a16:colId xmlns:a16="http://schemas.microsoft.com/office/drawing/2014/main" val="2920466829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2535522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092266194"/>
                    </a:ext>
                  </a:extLst>
                </a:gridCol>
              </a:tblGrid>
              <a:tr h="60740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Tém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29924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20525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N. </a:t>
                      </a:r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443389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970399"/>
                  </a:ext>
                </a:extLst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 flipH="1">
            <a:off x="5123904" y="2291443"/>
            <a:ext cx="22566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OR = 1.28</a:t>
            </a:r>
          </a:p>
          <a:p>
            <a:r>
              <a:rPr lang="fr-FR" sz="2400" dirty="0"/>
              <a:t>Log(OR) = 0.245</a:t>
            </a:r>
          </a:p>
        </p:txBody>
      </p:sp>
    </p:spTree>
    <p:extLst>
      <p:ext uri="{BB962C8B-B14F-4D97-AF65-F5344CB8AC3E}">
        <p14:creationId xmlns:p14="http://schemas.microsoft.com/office/powerpoint/2010/main" val="96891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analytique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Précision d’un OR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354570"/>
              </p:ext>
            </p:extLst>
          </p:nvPr>
        </p:nvGraphicFramePr>
        <p:xfrm>
          <a:off x="1001487" y="2786482"/>
          <a:ext cx="3570513" cy="2429624"/>
        </p:xfrm>
        <a:graphic>
          <a:graphicData uri="http://schemas.openxmlformats.org/drawingml/2006/table">
            <a:tbl>
              <a:tblPr firstRow="1" bandRow="1"/>
              <a:tblGrid>
                <a:gridCol w="1190171">
                  <a:extLst>
                    <a:ext uri="{9D8B030D-6E8A-4147-A177-3AD203B41FA5}">
                      <a16:colId xmlns:a16="http://schemas.microsoft.com/office/drawing/2014/main" val="2920466829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2535522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092266194"/>
                    </a:ext>
                  </a:extLst>
                </a:gridCol>
              </a:tblGrid>
              <a:tr h="60740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Tém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29924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20525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N. </a:t>
                      </a:r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443389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970399"/>
                  </a:ext>
                </a:extLst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 flipH="1">
            <a:off x="5123901" y="2291443"/>
            <a:ext cx="2262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OR = 1.28</a:t>
            </a:r>
          </a:p>
          <a:p>
            <a:r>
              <a:rPr lang="fr-FR" sz="2400" dirty="0"/>
              <a:t>Log(OR) = 0.245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4899723" y="3320143"/>
                <a:ext cx="3928511" cy="1095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𝑠𝑑</m:t>
                      </m:r>
                      <m:d>
                        <m:dPr>
                          <m:begChr m:val="["/>
                          <m:endChr m:val="]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</m:e>
                          </m:d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450</m:t>
                              </m:r>
                            </m:den>
                          </m:f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46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fr-FR" b="0" dirty="0"/>
              </a:p>
              <a:p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𝑠𝑑</m:t>
                    </m:r>
                    <m:d>
                      <m:dPr>
                        <m:begChr m:val="["/>
                        <m:endChr m:val="]"/>
                        <m:ctrlPr>
                          <a:rPr lang="fr-F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fr-F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fr-FR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OR</m:t>
                            </m:r>
                          </m:e>
                        </m:d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0.222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723" y="3320143"/>
                <a:ext cx="3928511" cy="1095364"/>
              </a:xfrm>
              <a:prstGeom prst="rect">
                <a:avLst/>
              </a:prstGeom>
              <a:blipFill>
                <a:blip r:embed="rId2"/>
                <a:stretch>
                  <a:fillRect l="-776" b="-83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073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Épidémiologie analytique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Précision d’un OR</a:t>
            </a:r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354570"/>
              </p:ext>
            </p:extLst>
          </p:nvPr>
        </p:nvGraphicFramePr>
        <p:xfrm>
          <a:off x="1001487" y="2786482"/>
          <a:ext cx="3570513" cy="2429624"/>
        </p:xfrm>
        <a:graphic>
          <a:graphicData uri="http://schemas.openxmlformats.org/drawingml/2006/table">
            <a:tbl>
              <a:tblPr firstRow="1" bandRow="1"/>
              <a:tblGrid>
                <a:gridCol w="1190171">
                  <a:extLst>
                    <a:ext uri="{9D8B030D-6E8A-4147-A177-3AD203B41FA5}">
                      <a16:colId xmlns:a16="http://schemas.microsoft.com/office/drawing/2014/main" val="2920466829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2535522"/>
                    </a:ext>
                  </a:extLst>
                </a:gridCol>
                <a:gridCol w="1190171">
                  <a:extLst>
                    <a:ext uri="{9D8B030D-6E8A-4147-A177-3AD203B41FA5}">
                      <a16:colId xmlns:a16="http://schemas.microsoft.com/office/drawing/2014/main" val="2092266194"/>
                    </a:ext>
                  </a:extLst>
                </a:gridCol>
              </a:tblGrid>
              <a:tr h="607406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Tém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29924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205250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N. </a:t>
                      </a:r>
                      <a:r>
                        <a:rPr lang="fr-FR" sz="2400" dirty="0" err="1"/>
                        <a:t>Exp</a:t>
                      </a:r>
                      <a:r>
                        <a:rPr lang="fr-FR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460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443389"/>
                  </a:ext>
                </a:extLst>
              </a:tr>
              <a:tr h="607406">
                <a:tc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970399"/>
                  </a:ext>
                </a:extLst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 flipH="1">
            <a:off x="5123899" y="2291443"/>
            <a:ext cx="38459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OR = 1.28</a:t>
            </a:r>
          </a:p>
          <a:p>
            <a:r>
              <a:rPr lang="fr-FR" sz="2400" dirty="0" err="1"/>
              <a:t>exp</a:t>
            </a:r>
            <a:r>
              <a:rPr lang="fr-FR" sz="2400" dirty="0"/>
              <a:t>(0.245 – 2 x 0.222) = 0.8</a:t>
            </a:r>
          </a:p>
          <a:p>
            <a:r>
              <a:rPr lang="fr-FR" sz="2400" dirty="0" err="1"/>
              <a:t>exp</a:t>
            </a:r>
            <a:r>
              <a:rPr lang="fr-FR" sz="2400" dirty="0"/>
              <a:t>(0.245 + 2 x 0.222) = 2 </a:t>
            </a:r>
          </a:p>
        </p:txBody>
      </p:sp>
    </p:spTree>
    <p:extLst>
      <p:ext uri="{BB962C8B-B14F-4D97-AF65-F5344CB8AC3E}">
        <p14:creationId xmlns:p14="http://schemas.microsoft.com/office/powerpoint/2010/main" val="1417327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Essai thérapeutique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Comparaison de deux pourcentages</a:t>
            </a:r>
          </a:p>
          <a:p>
            <a:pPr lvl="1"/>
            <a:r>
              <a:rPr lang="fr-FR" sz="2800" dirty="0"/>
              <a:t>H</a:t>
            </a:r>
            <a:r>
              <a:rPr lang="fr-FR" sz="2800" baseline="-25000" dirty="0"/>
              <a:t>0</a:t>
            </a:r>
            <a:r>
              <a:rPr lang="fr-FR" sz="2800" dirty="0"/>
              <a:t> : p</a:t>
            </a:r>
            <a:r>
              <a:rPr lang="fr-FR" sz="2800" baseline="-25000" dirty="0"/>
              <a:t>1</a:t>
            </a:r>
            <a:r>
              <a:rPr lang="fr-FR" sz="2800" dirty="0"/>
              <a:t> = p</a:t>
            </a:r>
            <a:r>
              <a:rPr lang="fr-FR" sz="2800" baseline="-25000" dirty="0"/>
              <a:t>2</a:t>
            </a:r>
          </a:p>
          <a:p>
            <a:pPr lvl="1"/>
            <a:r>
              <a:rPr lang="fr-FR" sz="2800" dirty="0"/>
              <a:t>H</a:t>
            </a:r>
            <a:r>
              <a:rPr lang="fr-FR" sz="2800" baseline="-25000" dirty="0"/>
              <a:t>A</a:t>
            </a:r>
            <a:r>
              <a:rPr lang="fr-FR" sz="2800" dirty="0"/>
              <a:t> : p</a:t>
            </a:r>
            <a:r>
              <a:rPr lang="fr-FR" sz="2800" baseline="-25000" dirty="0"/>
              <a:t>1</a:t>
            </a:r>
            <a:r>
              <a:rPr lang="fr-FR" sz="2800" dirty="0"/>
              <a:t> - p</a:t>
            </a:r>
            <a:r>
              <a:rPr lang="fr-FR" sz="2800" baseline="-25000" dirty="0"/>
              <a:t>2 </a:t>
            </a:r>
            <a:r>
              <a:rPr lang="fr-FR" sz="2800" dirty="0"/>
              <a:t>= ∆</a:t>
            </a:r>
          </a:p>
          <a:p>
            <a:pPr lvl="1"/>
            <a:r>
              <a:rPr lang="fr-FR" sz="2800" dirty="0"/>
              <a:t>α</a:t>
            </a:r>
          </a:p>
          <a:p>
            <a:pPr lvl="1"/>
            <a:r>
              <a:rPr lang="el-GR" sz="2800" dirty="0"/>
              <a:t>β</a:t>
            </a:r>
            <a:r>
              <a:rPr lang="fr-FR" sz="2800" dirty="0"/>
              <a:t> </a:t>
            </a:r>
            <a:endParaRPr lang="fr-FR" sz="2800" baseline="-25000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3949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Essai thérapeutique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Comparaison de deux pourcentages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758043" y="2590800"/>
                <a:ext cx="5316584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fr-F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fr-F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043" y="2590800"/>
                <a:ext cx="5316584" cy="778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851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Essai thérapeutique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49" y="1825625"/>
            <a:ext cx="8428265" cy="4351338"/>
          </a:xfrm>
        </p:spPr>
        <p:txBody>
          <a:bodyPr/>
          <a:lstStyle/>
          <a:p>
            <a:r>
              <a:rPr lang="fr-FR" dirty="0"/>
              <a:t>Comparaison de deux pourcentages : p</a:t>
            </a:r>
            <a:r>
              <a:rPr lang="fr-FR" baseline="-25000" dirty="0"/>
              <a:t>1</a:t>
            </a:r>
            <a:r>
              <a:rPr lang="fr-FR" dirty="0"/>
              <a:t> = 0.1, p</a:t>
            </a:r>
            <a:r>
              <a:rPr lang="fr-FR" baseline="-25000" dirty="0"/>
              <a:t>2</a:t>
            </a:r>
            <a:r>
              <a:rPr lang="fr-FR" dirty="0"/>
              <a:t> = 0.2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758043" y="2590800"/>
                <a:ext cx="5316584" cy="778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fr-FR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fr-F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fr-FR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043" y="2590800"/>
                <a:ext cx="5316584" cy="778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4715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Essai thérapeutique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49" y="1825625"/>
            <a:ext cx="8428265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n.for.2p(0.1, 0.2, alpha = 0.05, power = 0.8, ratio = 1)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Estimation of </a:t>
            </a:r>
            <a:r>
              <a:rPr lang="fr-FR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sample</a:t>
            </a: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 for </a:t>
            </a:r>
            <a:r>
              <a:rPr lang="fr-FR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testing</a:t>
            </a: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Ho: p1==p2 </a:t>
            </a:r>
          </a:p>
          <a:p>
            <a:pPr marL="0" indent="0">
              <a:buNone/>
            </a:pPr>
            <a:r>
              <a:rPr lang="fr-FR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Assumptions</a:t>
            </a: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alpha = 0.05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power = 0.8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p1 = 0.1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p2 = 0.2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n2/n1 = 1 </a:t>
            </a:r>
          </a:p>
          <a:p>
            <a:pPr marL="0" indent="0">
              <a:buNone/>
            </a:pPr>
            <a:r>
              <a:rPr lang="fr-FR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Estimated</a:t>
            </a: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required</a:t>
            </a: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sample</a:t>
            </a: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size: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n1 = 219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n2 = 219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n1 + n2 = 438 </a:t>
            </a:r>
          </a:p>
        </p:txBody>
      </p:sp>
    </p:spTree>
    <p:extLst>
      <p:ext uri="{BB962C8B-B14F-4D97-AF65-F5344CB8AC3E}">
        <p14:creationId xmlns:p14="http://schemas.microsoft.com/office/powerpoint/2010/main" val="3661370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Essai thérapeutique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Comparaison de deux moyennes</a:t>
            </a:r>
          </a:p>
          <a:p>
            <a:pPr lvl="1"/>
            <a:r>
              <a:rPr lang="fr-FR" sz="2800" dirty="0"/>
              <a:t>H</a:t>
            </a:r>
            <a:r>
              <a:rPr lang="fr-FR" sz="2800" baseline="-25000" dirty="0"/>
              <a:t>0</a:t>
            </a:r>
            <a:r>
              <a:rPr lang="fr-FR" sz="2800" dirty="0"/>
              <a:t> : m</a:t>
            </a:r>
            <a:r>
              <a:rPr lang="fr-FR" sz="2800" baseline="-25000" dirty="0"/>
              <a:t>1</a:t>
            </a:r>
            <a:r>
              <a:rPr lang="fr-FR" sz="2800" dirty="0"/>
              <a:t> = m</a:t>
            </a:r>
            <a:r>
              <a:rPr lang="fr-FR" sz="2800" baseline="-25000" dirty="0"/>
              <a:t>2</a:t>
            </a:r>
          </a:p>
          <a:p>
            <a:pPr lvl="1"/>
            <a:r>
              <a:rPr lang="fr-FR" sz="2800" dirty="0"/>
              <a:t>H</a:t>
            </a:r>
            <a:r>
              <a:rPr lang="fr-FR" sz="2800" baseline="-25000" dirty="0"/>
              <a:t>A</a:t>
            </a:r>
            <a:r>
              <a:rPr lang="fr-FR" sz="2800" dirty="0"/>
              <a:t> : m</a:t>
            </a:r>
            <a:r>
              <a:rPr lang="fr-FR" sz="2800" baseline="-25000" dirty="0"/>
              <a:t>1</a:t>
            </a:r>
            <a:r>
              <a:rPr lang="fr-FR" sz="2800" dirty="0"/>
              <a:t> - m</a:t>
            </a:r>
            <a:r>
              <a:rPr lang="fr-FR" sz="2800" baseline="-25000" dirty="0"/>
              <a:t>2 </a:t>
            </a:r>
            <a:r>
              <a:rPr lang="fr-FR" sz="2800" dirty="0"/>
              <a:t>= ∆</a:t>
            </a:r>
          </a:p>
          <a:p>
            <a:pPr lvl="1"/>
            <a:r>
              <a:rPr lang="fr-FR" sz="2800" dirty="0"/>
              <a:t>α</a:t>
            </a:r>
          </a:p>
          <a:p>
            <a:pPr lvl="1"/>
            <a:r>
              <a:rPr lang="el-GR" sz="2800" dirty="0"/>
              <a:t>β</a:t>
            </a:r>
            <a:r>
              <a:rPr lang="fr-FR" sz="2800" dirty="0"/>
              <a:t> </a:t>
            </a:r>
            <a:endParaRPr lang="fr-FR" sz="2800" baseline="-25000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9181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Essai thérapeutique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Comparaison de deux moyennes :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		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n.for.2means()</a:t>
            </a:r>
            <a:r>
              <a:rPr lang="fr-F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2487386" y="2596243"/>
                <a:ext cx="3099182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fr-F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fr-F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2800" i="1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fr-FR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800" i="1" smtClean="0">
                                  <a:latin typeface="Cambria Math" panose="02040503050406030204" pitchFamily="18" charset="0"/>
                                </a:rPr>
                                <m:t>∆</m:t>
                              </m:r>
                            </m:e>
                            <m:sup>
                              <m:r>
                                <a:rPr lang="fr-FR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386" y="2596243"/>
                <a:ext cx="3099182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467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Essai thérapeutique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49" y="1825625"/>
            <a:ext cx="8450037" cy="4351338"/>
          </a:xfrm>
        </p:spPr>
        <p:txBody>
          <a:bodyPr/>
          <a:lstStyle/>
          <a:p>
            <a:r>
              <a:rPr lang="fr-FR" dirty="0"/>
              <a:t>Groupes déséquilibrés (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n.for.2p</a:t>
            </a:r>
            <a:r>
              <a:rPr lang="fr-FR" sz="2400" dirty="0"/>
              <a:t>, 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n.for.2means</a:t>
            </a:r>
            <a:r>
              <a:rPr lang="fr-FR" dirty="0"/>
              <a:t>)</a:t>
            </a:r>
          </a:p>
          <a:p>
            <a:r>
              <a:rPr lang="fr-FR" dirty="0"/>
              <a:t>Log </a:t>
            </a:r>
            <a:r>
              <a:rPr lang="fr-FR" dirty="0" err="1"/>
              <a:t>rank</a:t>
            </a:r>
            <a:r>
              <a:rPr lang="fr-FR" dirty="0"/>
              <a:t> (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cpower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FR" dirty="0"/>
              <a:t> de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Hmisc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>
                <a:cs typeface="Courier New" panose="02070309020205020404" pitchFamily="49" charset="0"/>
              </a:rPr>
              <a:t>ou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powerSurvEpi</a:t>
            </a:r>
            <a:r>
              <a:rPr lang="fr-FR" dirty="0"/>
              <a:t>)</a:t>
            </a:r>
          </a:p>
          <a:p>
            <a:r>
              <a:rPr lang="fr-FR" dirty="0"/>
              <a:t>Modèles mixtes (</a:t>
            </a: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SIMR</a:t>
            </a:r>
            <a:r>
              <a:rPr lang="fr-FR" dirty="0"/>
              <a:t>, </a:t>
            </a:r>
            <a:r>
              <a:rPr lang="fr-F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powerlmm</a:t>
            </a:r>
            <a:r>
              <a:rPr lang="fr-FR" dirty="0"/>
              <a:t> ,… )</a:t>
            </a: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 Epidémiologie analytique (hum </a:t>
            </a:r>
            <a:r>
              <a:rPr lang="fr-FR" dirty="0" err="1">
                <a:sym typeface="Wingdings" panose="05000000000000000000" pitchFamily="2" charset="2"/>
              </a:rPr>
              <a:t>hum</a:t>
            </a:r>
            <a:r>
              <a:rPr lang="fr-FR" dirty="0">
                <a:sym typeface="Wingdings" panose="05000000000000000000" pitchFamily="2" charset="2"/>
              </a:rPr>
              <a:t>…)</a:t>
            </a:r>
          </a:p>
          <a:p>
            <a:pPr marL="0" indent="0">
              <a:buNone/>
            </a:pPr>
            <a:r>
              <a:rPr lang="fr-FR" dirty="0">
                <a:sym typeface="Wingdings" panose="05000000000000000000" pitchFamily="2" charset="2"/>
              </a:rPr>
              <a:t> Et pour le reste ?! (études diagnostiques par ex.)</a:t>
            </a:r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661340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49" y="1825625"/>
            <a:ext cx="8450037" cy="4351338"/>
          </a:xfrm>
        </p:spPr>
        <p:txBody>
          <a:bodyPr/>
          <a:lstStyle/>
          <a:p>
            <a:r>
              <a:rPr lang="fr-FR" dirty="0"/>
              <a:t>€</a:t>
            </a:r>
          </a:p>
          <a:p>
            <a:r>
              <a:rPr lang="fr-FR" dirty="0"/>
              <a:t>Jurisprudence</a:t>
            </a:r>
          </a:p>
          <a:p>
            <a:r>
              <a:rPr lang="fr-FR" dirty="0"/>
              <a:t>« Bon sens »</a:t>
            </a:r>
          </a:p>
          <a:p>
            <a:r>
              <a:rPr lang="fr-FR"/>
              <a:t>Une formule (deux?) </a:t>
            </a:r>
            <a:r>
              <a:rPr lang="fr-FR" dirty="0"/>
              <a:t>qui aide à mettre à plat</a:t>
            </a:r>
          </a:p>
          <a:p>
            <a:pPr lvl="1"/>
            <a:r>
              <a:rPr lang="fr-FR" dirty="0"/>
              <a:t>Mais que vaut ∆ ?...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31979273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ISP¨stat avancées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B31E8EED-406E-4AE6-A8F1-6797DC3538AD}" vid="{33AC4427-CF44-4220-81DA-D17D9416B1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</TotalTime>
  <Words>480</Words>
  <Application>Microsoft Macintosh PowerPoint</Application>
  <PresentationFormat>Affichage à l'écran (4:3)</PresentationFormat>
  <Paragraphs>145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Courier New</vt:lpstr>
      <vt:lpstr>Wingdings</vt:lpstr>
      <vt:lpstr>Thème ISP¨stat avancées</vt:lpstr>
      <vt:lpstr>Nombre de sujets nécessaires</vt:lpstr>
      <vt:lpstr>Nombre de sujets nécessaires</vt:lpstr>
      <vt:lpstr>Épidémiologie descriptive</vt:lpstr>
      <vt:lpstr>Épidémiologie descriptive</vt:lpstr>
      <vt:lpstr>Épidémiologie descriptive</vt:lpstr>
      <vt:lpstr>Épidémiologie descriptive</vt:lpstr>
      <vt:lpstr>Épidémiologie analytique</vt:lpstr>
      <vt:lpstr>Épidémiologie analytique</vt:lpstr>
      <vt:lpstr>Épidémiologie analytique</vt:lpstr>
      <vt:lpstr>Épidémiologie analytique</vt:lpstr>
      <vt:lpstr>Épidémiologie analytique</vt:lpstr>
      <vt:lpstr>Épidémiologie analytique</vt:lpstr>
      <vt:lpstr>Épidémiologie analytique</vt:lpstr>
      <vt:lpstr>Essai thérapeutique</vt:lpstr>
      <vt:lpstr>Essai thérapeutique</vt:lpstr>
      <vt:lpstr>Essai thérapeutique</vt:lpstr>
      <vt:lpstr>Essai thérapeutique</vt:lpstr>
      <vt:lpstr>Essai thérapeutique</vt:lpstr>
      <vt:lpstr>Essai thérapeutique</vt:lpstr>
      <vt:lpstr>Essai thérapeutique</vt:lpstr>
      <vt:lpstr>Conclusion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Bruno Falissard</dc:creator>
  <cp:lastModifiedBy>Thomas Husson</cp:lastModifiedBy>
  <cp:revision>18</cp:revision>
  <dcterms:created xsi:type="dcterms:W3CDTF">2018-02-20T10:58:30Z</dcterms:created>
  <dcterms:modified xsi:type="dcterms:W3CDTF">2026-04-02T12:06:34Z</dcterms:modified>
</cp:coreProperties>
</file>